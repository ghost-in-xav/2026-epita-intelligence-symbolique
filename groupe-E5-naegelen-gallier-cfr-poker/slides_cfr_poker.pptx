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23960" y="2514599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4A9EFF"/>
                </a:solidFill>
              </a:rPr>
              <a:t>♠ ♥
♦ 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Counterfactual Regret
Minimization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4A9EFF"/>
                </a:solidFill>
              </a:rPr>
              <a:t>CFR et Poker IA</a:t>
            </a:r>
            <a:r>
              <a:rPr lang="en-US" sz="2000" b="0" i="0" dirty="0">
                <a:solidFill>
                  <a:srgbClr val="4A9EFF"/>
                </a:solidFill>
              </a:rPr>
              <a:t> :</a:t>
            </a:r>
            <a:r>
              <a:rPr sz="2000" b="0" i="0" dirty="0">
                <a:solidFill>
                  <a:srgbClr val="4A9EFF"/>
                </a:solidFill>
              </a:rPr>
              <a:t> </a:t>
            </a:r>
            <a:r>
              <a:rPr sz="2000" b="0" i="0" dirty="0" err="1">
                <a:solidFill>
                  <a:srgbClr val="4A9EFF"/>
                </a:solidFill>
              </a:rPr>
              <a:t>Sujet</a:t>
            </a:r>
            <a:r>
              <a:rPr sz="2000" b="0" i="0" dirty="0">
                <a:solidFill>
                  <a:srgbClr val="4A9EFF"/>
                </a:solidFill>
              </a:rPr>
              <a:t> E5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D4"/>
                </a:solidFill>
              </a:rPr>
              <a:t>Nicolas Naegelen  •  Arthur Gallier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Contexte théorique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618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Jeux à information imparfaite, Nash, regret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457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92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Kuhn Poker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Règles, arbre de jeu, ensembles d'information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4572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5511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51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CFR Vanilla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786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Algorithme, regret matching, convergence O(1/√T)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457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209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09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Oracle Best-Response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3697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Exploitabilité, vérification du Nash analytique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4572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867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67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CFR+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89534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Regret plancher, mises à jour alternées, comparaison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457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Leduc Hold'em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5371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Scalabilité, profiling, techniques d'abstraction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38928"/>
            <a:ext cx="457200" cy="457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184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84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Résultats &amp; 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120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Stratégies apprises,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Jeux à information imparfaite et CFR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Pourquoi minimax ne suffit pas au poker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41148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Information imparfaite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Chaque joueur ignore la main adverse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Ensembles d'information (info 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regroupent les états indiscernables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Stratégie = distribution sur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dans chaque info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Nash ≠ minimax (pas d'observabilité)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749039" cy="41148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Regret &amp; Regret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Regret instantané d'action a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568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rᵗ(I,a) = uᵢ(a) − uᵢ(σ)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677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Regret cumulé : R(I,a) = Σ rᵗ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786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Stratégie ∝ max(R(I,a), 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895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CFR minimise les regrets locaux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2004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Exploitabilité → 0 en O(1/√T)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657600" cy="41148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Nash &amp; Exploitabilité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64592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Nash : σ* tel que personne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95681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ne peut améliorer en déviant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6771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Exploitabilité 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57860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BR(P0 vs σ₁) + BR(P1 vs σ₀)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88950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= 0 à l'équilibre exact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0040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Libratus (2017) &amp; Pluribus (2019)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Kuhn Poker — Arbre de 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3 cartes, 2 joueurs, 12 ensembles d'information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47472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Règles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3 cartes : J(0) Q(1) K(2)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Chacun mise 1 jeton (ante)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Actions : p (passe) / b (mise)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Séquences terminales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pp  → showdown, +1/-1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1129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bp  → P0 gagne, 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2219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bb  → showdown, +2/-2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330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pbp → P1 gagne, 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4398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pbb → showdown, +2/-2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6 deals équiprobables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7667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12 info sets au 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188720"/>
            <a:ext cx="384048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Équilibre de Nash analytique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16459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Paramètre libre α = 1/3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195681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226771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P0 (premier joueur)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5786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 : bet avec prob. α = 1/3 (bluff)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88950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 : check (jamais miser)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0040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 : bet avec prob. 3α 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51129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60" y="38221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P1 (deuxième joueur)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133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J:pb → call 1/3 du temps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443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Q:pb → call 2/3 du temps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75488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K:pb → call toujours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06577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53766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Valeur du jeu : -1/18 ≈ -0.0556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188720"/>
            <a:ext cx="384048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Info sets (12 total)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16459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P0 après deal (3 info sets)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195681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  [p, b]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26771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  [p, b]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5786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  [p, b]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88950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320040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P1 après p de P0 (3 info sets) 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51129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J:p  [p, b]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8221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Q:p  [p, b]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133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K:p  [p, b]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443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475488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P0 après pb de P1 (3 info sets) 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06577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J:pb [p, b]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3766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Q:pb [p, b]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68756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K:pb [p, b]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CFR Vanilla — Algorithme &amp;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Regret matching + probabilités contrefactuelles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Algorithme CFR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def cfr(cards, history, π₀, π₁):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if terminal: return u₀(history, cards)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i ← current_player(history)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σ ← regret_matching(R[I])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for each action 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  uₐ ← cfr(cards, h+a,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           π₀·σ(a) if i=0,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           π₁·σ(a) if i=1)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u ← Σ σ(a)·uₐ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cf_reach ← π₁ if i=0 else π₀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sign ← +1 if i=0 else −1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R[I,a] += sign·cf_reach·(uₐ−u)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834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  return 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188720"/>
            <a:ext cx="6035040" cy="237744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Propriétés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64592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Traverse tout l'arbre à chaque itération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95681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P0 utility = perspective de référence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2677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Regret P1 = signe opposé (−u₀ = u₁)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57860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Stratégie moyenne → Nash en O(1/√T)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889504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6 deals × arbre complet = 30 nœuds/iter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749039"/>
            <a:ext cx="6035040" cy="246888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384047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Convergence observée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206239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T=100    → expl ≈ 0.047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517135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T=1 000  → expl ≈ 0.013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28031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T=10 000 → expl ≈ 0.003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13892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T=100 000 → expl ≈ 0.001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449823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5760719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Pente log-log ≈ −0.5 → O(1/√T)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Best-Response &amp; Exploitabilité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Mesure exacte de la distance au Nash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Algorithme correct pour info imparfaite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Erreur naïve : choisir max(u) par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→ le BR connaîtrait la carte adverse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Algorithme correct (bottom-up)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1. Traversée de l'arbre pour chaque 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2. Accumulation reach-pondérée par info set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1129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 q(I,a) += reach_opp × u(prendre a ici)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2219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3. Stratégie BR : argmax_a q(I,a)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3308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4. Évaluation sous la stratégie BR ainsi définie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4398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Clé : accumuler sur TOUS les deals partageant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le même info set AVANT de choisir l'action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188720"/>
            <a:ext cx="5852160" cy="25603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280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Vérification Nash analytique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459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Nash connu (α=1/3)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568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J:p  = [2/3, 1/3]   (bluff 1/3)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677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   = [0,   1]     (toujours bet)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786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Q:pb = [1/3, 2/3]   (call 2/3)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950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0662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</a:rPr>
              <a:t>→ </a:t>
            </a:r>
            <a:r>
              <a:rPr sz="1400" b="0" i="0" dirty="0" err="1">
                <a:solidFill>
                  <a:srgbClr val="B0BED4"/>
                </a:solidFill>
              </a:rPr>
              <a:t>Exploitabilité</a:t>
            </a:r>
            <a:r>
              <a:rPr sz="1400" b="0" i="0" dirty="0">
                <a:solidFill>
                  <a:srgbClr val="B0BED4"/>
                </a:solidFill>
              </a:rPr>
              <a:t> = 0.000000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771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</a:rPr>
              <a:t>→ Valeur du jeu  = −0.055556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31920"/>
            <a:ext cx="5852160" cy="22860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40233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Exploitabilité au fil des itérations CFR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3891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Mesurée toutes les 50 itérations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7000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Décroissance monotone confirmée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0109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Garantie formelle : CFR converge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3218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vers Nash en 2-player zero-sum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63270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Utilisé pour comparer CFR vs CFR+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CFR+ — Améliorations et 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Tammelin 2014 • Brown &amp; Sandholm 2015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Modifications vs CFR Vanilla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① Regret plancher à 0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R⁺(I,a) = max(R(I,a),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efface les 'mauvais' regrets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stratégie plus réactive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② Mises à jour alternées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1129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iter t pair  → update P0 seulement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221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iter t impair → update P1 seulement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3308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réduit la 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4398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③ Pondération linéaire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cumul_strategy += t × σᵗ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7667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les premières itérations comptent moins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188720"/>
            <a:ext cx="3931920" cy="237744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Convergence comparée (T=5 000)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64592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            CFR    CFR+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95681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T=500  :  0.025  0.019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2677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T=1000 :  0.013  0.011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57860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T=2000 :  0.009  0.007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T=5000 :  0.004  0.003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004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51129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CFR+ ≈ 30% plus rapide en pratique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188720"/>
            <a:ext cx="3657600" cy="237744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Pourquoi CFR+ converge plus vite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64592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Le floor à 0 brise le 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195681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des regrets négatifs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26771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Moins de 'mémoire' des erreurs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578608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des premières itérations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88950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Convergence prouvée en O(1/T)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20040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vs O(1/√T) pour CFR vanilla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749039"/>
            <a:ext cx="7772400" cy="246888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3840479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A99"/>
                </a:solidFill>
              </a:rPr>
              <a:t>Graphique de convergence (log-log)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206239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Axe X : nombre d'itérations (log)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51713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Axe Y : exploitabilité (log)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828031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Pente CFR vanilla ≈ −0.50 → O(1/√T)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138927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Pente CFR+        ≈ −0.65 → convergence plus rapide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449823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Les deux convergent vers exploitabilité ≈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760719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(vérifiable via oracle best-response)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Leduc Hold'em — Scalabilité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Extension vers des jeux plus complexes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521440" cy="155448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Comparaison Kuhn Poker vs Leduc Hold'em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Cartes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00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3 (J,Q,K ×1)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6 (J,Q,K ×2)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874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74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2 + communautaire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874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4 (HNLHE)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874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Info 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1488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~288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~3.2×10⁹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48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~10¹⁸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</a:rPr>
              <a:t>Temps/itér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423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</a:rPr>
              <a:t>&lt; 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</a:rPr>
              <a:t>~50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23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5577840" cy="34747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017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Profiling Leduc CFR (mesuré)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38328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24 deals (vs 6 pour Kuhn)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6941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Info sets explorés : ~288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0507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Ratio temps/iter : ×50 vs Kuhn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3159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Convergence plus lente (plus de variance)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62686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Structure en 2 rounds avec séparateur '/'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377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dans la représentation de l'historique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2486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Main forte : paire (carte privée = communautaire)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926080"/>
            <a:ext cx="5760720" cy="34747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Techniques d'abstraction (NLHE)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38328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Card abstraction : regrouper mains similaires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69417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réduire ~10¹³ mains en ~10³ buckets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00507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43159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Bet abstraction : limiter tailles de mises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62686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arbre discret au lieu de continu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93776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52486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Monte Carlo CFR (MCCFR) 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55955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External sampling : échantillonner l'arbre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7044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O(1) par itération vs O(|arbre|)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18134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105" y="60899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</a:rPr>
              <a:t>→ Pluribus </a:t>
            </a:r>
            <a:r>
              <a:rPr sz="1400" b="0" i="0" dirty="0" err="1">
                <a:solidFill>
                  <a:srgbClr val="B0BED4"/>
                </a:solidFill>
              </a:rPr>
              <a:t>utilise</a:t>
            </a:r>
            <a:r>
              <a:rPr sz="1400" b="0" i="0" dirty="0">
                <a:solidFill>
                  <a:srgbClr val="B0BED4"/>
                </a:solidFill>
              </a:rPr>
              <a:t> </a:t>
            </a:r>
            <a:r>
              <a:rPr sz="1400" b="0" i="0" dirty="0" err="1">
                <a:solidFill>
                  <a:srgbClr val="B0BED4"/>
                </a:solidFill>
              </a:rPr>
              <a:t>ces</a:t>
            </a:r>
            <a:r>
              <a:rPr sz="1400" b="0" i="0" dirty="0">
                <a:solidFill>
                  <a:srgbClr val="B0BED4"/>
                </a:solidFill>
              </a:rPr>
              <a:t> 3 techniques </a:t>
            </a:r>
            <a:r>
              <a:rPr sz="1400" b="0" i="0" dirty="0" err="1">
                <a:solidFill>
                  <a:srgbClr val="B0BED4"/>
                </a:solidFill>
              </a:rPr>
              <a:t>combinées</a:t>
            </a:r>
            <a:endParaRPr sz="1400" b="0" i="0" dirty="0">
              <a:solidFill>
                <a:srgbClr val="B0BED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Stratégies apprises et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CFR converge vers le Nash analytique de Kuhn Poker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Stratégie CFR après 100 000 itérations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Player 0 (premier à parler)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   bet 0.33  (théorique: 1/3)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   bet 0.00  (théorique: 0) 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   bet 0.99  (théorique: 1) 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Player 1 (répond à la mise)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1129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J:b  call 0.00  (théorique: 0) 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2219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Q:b  call 1.00  (théorique: 1) 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3308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K:b  call 1.00  (théorique: 1) 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4398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J:pb call 0.33  (théorique: 1/3)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Q:pb call 0.67  (théorique: 2/3)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K:pb call 1.00  (théorique: 1)  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188720"/>
            <a:ext cx="6035040" cy="237744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Insights sur la stratégie optimale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64592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Le bluff optimal de J : exactement 1/3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95681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trop peu : K identifiable, fold facile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2677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trop     : adverse peut call + profiter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57860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264261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</a:rPr>
              <a:t>Q ne mise jamais (carte </a:t>
            </a:r>
            <a:r>
              <a:rPr sz="1400" b="0" i="0" dirty="0" err="1">
                <a:solidFill>
                  <a:srgbClr val="B0BED4"/>
                </a:solidFill>
              </a:rPr>
              <a:t>médiane</a:t>
            </a:r>
            <a:r>
              <a:rPr sz="1400" b="0" i="0" dirty="0">
                <a:solidFill>
                  <a:srgbClr val="B0BED4"/>
                </a:solidFill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953513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si P1 call, Q perd contre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264409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BED4"/>
                </a:solidFill>
              </a:rPr>
              <a:t>  → </a:t>
            </a:r>
            <a:r>
              <a:rPr sz="1400" b="0" i="0" dirty="0" err="1">
                <a:solidFill>
                  <a:srgbClr val="B0BED4"/>
                </a:solidFill>
              </a:rPr>
              <a:t>si</a:t>
            </a:r>
            <a:r>
              <a:rPr sz="1400" b="0" i="0" dirty="0">
                <a:solidFill>
                  <a:srgbClr val="B0BED4"/>
                </a:solidFill>
              </a:rPr>
              <a:t> P1 fold, Q </a:t>
            </a:r>
            <a:r>
              <a:rPr sz="1400" b="0" i="0" dirty="0" err="1">
                <a:solidFill>
                  <a:srgbClr val="B0BED4"/>
                </a:solidFill>
              </a:rPr>
              <a:t>avait</a:t>
            </a:r>
            <a:r>
              <a:rPr sz="1400" b="0" i="0" dirty="0">
                <a:solidFill>
                  <a:srgbClr val="B0BED4"/>
                </a:solidFill>
              </a:rPr>
              <a:t> déjà </a:t>
            </a:r>
            <a:r>
              <a:rPr sz="1400" b="0" i="0" dirty="0" err="1">
                <a:solidFill>
                  <a:srgbClr val="B0BED4"/>
                </a:solidFill>
              </a:rPr>
              <a:t>gagné</a:t>
            </a:r>
            <a:endParaRPr sz="1400" b="0" i="0" dirty="0">
              <a:solidFill>
                <a:srgbClr val="B0BED4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2160" y="3749039"/>
            <a:ext cx="6035040" cy="246888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384047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Métriques finales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206239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Exploitabilité Nash analytique : 0.000000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517135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Exploitabilité CFR  (T=100k)  : 0.001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828031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Exploitabilité CFR+ (T=100k)  : 0.001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13892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Valeur du jeu convergée : −0.0553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449823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Valeur théorique       : −0.0556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749039" cy="53035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Réalisations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✓ CFR vanilla implémenté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convergence O(1/√T) vérifiée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✓ CFR+ avec regret floor + alternating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~30% plus rapide que vanilla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284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✓ Oracle BR correct pour info imparfaite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exploitabilité Nash = 0.000000 vérifié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502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611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✓ Extension Leduc Hold'em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profiling et comparaison scalabilité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8289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937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✓ Stratégie Nash apprise correspond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à l'équilibre analytique (α=1/3)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005840"/>
            <a:ext cx="3749039" cy="53035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1097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Apports théoriques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46304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CFR est fondamentalement différent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17739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de minimax : raisonne sur 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08483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ensembles d'information, pas les états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39572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270662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La Best-Response pour info imparfaite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0175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requiert une accumulation reach-pondérée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3284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avant de choisir l'action optimale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6393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39502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CFR+ : convergence O(1/T) théorique,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611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les regrets passés ne pénalisent 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720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488289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MCCFR : clé pour passer à l'échelle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1937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(Libratus, Pluribus, PokerSnowie)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005840"/>
            <a:ext cx="3749039" cy="5303520"/>
          </a:xfrm>
          <a:prstGeom prst="rect">
            <a:avLst/>
          </a:prstGeom>
          <a:solidFill>
            <a:srgbClr val="1D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10972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Perspectives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External Sampling MCCFR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17739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O(1) par itération, applicable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08483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  à des jeux beaucoup plus grands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39572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270662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Discounted CFR (DCFR)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01752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pondération temporelle des regrets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32841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convergence encore plus rapide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63931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395020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Deep CFR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26110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approximer les regrets par réseau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57200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extensible à No-Limit Hold'em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88289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51937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• Texas Hold'em à 2 joueurs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50468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→ ~10⁹ info sets, nécessite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815584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    abstraction + MCCFR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1996</Words>
  <Application>Microsoft Macintosh PowerPoint</Application>
  <PresentationFormat>Custom</PresentationFormat>
  <Paragraphs>279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Naegelen</cp:lastModifiedBy>
  <cp:revision>3</cp:revision>
  <dcterms:created xsi:type="dcterms:W3CDTF">2013-01-27T09:14:16Z</dcterms:created>
  <dcterms:modified xsi:type="dcterms:W3CDTF">2026-07-16T17:12:11Z</dcterms:modified>
  <cp:category/>
</cp:coreProperties>
</file>