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 présenter, annoncer le pont : ce projet ne parle pas de gagner de l'argent en trading, il parle de prouver qu'un système ne fera jamais une chose interdite — le trading est juste le cas d'usage. Poser la question qui structure tout : comment être sûr qu'un bot ne violera jamais ses règles de sécurité, avant de lui confier de l'argent réel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Expliquer qu'un backtest, même sur 5 ans de données, n'est qu'un échantillon d'exécution possible parmi une infinité de scénarios de marché. Le model checking (Clarke, Emerson, Sistla, 1986, prix Turing 2007) est l'outil qui vérifie exhaustivement un système à états finis : soit il prouve la propriété sur tous les chemins accessibles, soit il rend un contre-exemple concret. C'est cette exhaustivité qui justifie l'usage en avionique, ferroviaire, protocoles, et ici, avant de risquer du capital réel.</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C'est la slide qui répond à je ne connais pas trop le lien avec le cours. Rappeler que le cours d'IA symbolique porte sur représenter et raisonner sur des connaissances via des logiques, pas sur des solveurs d'optimisation. Ici on utilise un fragment de logique modale (CTL) pour raisonner sur des états et des chemins temporels (toujours, un jour, il existe un chemin où), même famille conceptuelle que les logiques modales vues en cours. Le solveur n'optimise rien : il démontre ou réfute une formule logique sur un modèle. C'est exactement la distinction Programmation par Contraintes vs Intelligence Symbolique donnée dans le sujet du cours.</a:t>
            </a:r>
            <a:endParaRPr/>
          </a:p>
        </p:txBody>
      </p:sp>
      <p:sp>
        <p:nvSpPr>
          <p:cNvPr id="159" name="Google Shape;1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Présenter la stratégie trend-following (SMA 20/50) comme prétexte, puis insister sur la vraie mécanique : dès que le drawdown atteint la zone d'alerte en position, bascule automatique en margin_warning qui coupe le levier au pas suivant, avant que le drawdown ne puisse atteindre la zone critique. C'est cette règle de contrôle qui va être prouvée, pas la rentabilité de la stratégie. Mentionner la taille du modèle : 190 états, 1450 transitions, calculés par exploration en avant, assez petit pour un model checker explicite en Python pur, pas besoin de BDD symboliques.</a:t>
            </a:r>
            <a:endParaRPr/>
          </a:p>
        </p:txBody>
      </p:sp>
      <p:sp>
        <p:nvSpPr>
          <p:cNvPr id="188" name="Google Shape;1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Parcourir 2-3 propriétés représentatives, pas les 8 en détail : P1 (sûreté absolue, jamais de margin call), P4/P5 (vivacité, le bot revient toujours à plat après un halt ou une alerte), P7 (atteignabilité, la cible de profit reste accessible, pour vérifier que le modèle n'est pas trivialement bloqué). Insister sur le fait que ces formules sont vérifiées par calcul de point fixe sur l'espace d'états complet, pas par simulation.</a:t>
            </a:r>
            <a:endParaRPr/>
          </a:p>
        </p:txBody>
      </p:sp>
      <p:sp>
        <p:nvSpPr>
          <p:cNvPr id="224" name="Google Shape;2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Montrer que le model checker n'est pas cosmétique : sur une variante du bot où la bascule margin_warning est retirée, il détecte automatiquement 3 violations et produit une trace exécutable, rejouable, qui explique précisément le scénario de défaillance, le bot reste leveragé pendant que le drawdown grimpe jusqu'au seuil critique. C'est la preuve que la vérification a un vrai pouvoir de détection, pas juste une confirmation de ce qu'on savait déjà.</a:t>
            </a:r>
            <a:endParaRPr/>
          </a:p>
        </p:txBody>
      </p:sp>
      <p:sp>
        <p:nvSpPr>
          <p:cNvPr id="287" name="Google Shape;28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Expliquer le passage de CTL (déterministe, certitude totale) à PCTL, le marché introduit du non-déterminisme probabiliste, mouvement adverse avec probabilité p. Le modèle certifié garde une probabilité 1 de ne jamais subir de margin call même sous incertitude ; le modèle fautif voit cette probabilité s'effondrer. C'est le pont entre la certitude logique du model checking classique et le raisonnement sous incertitude, extension qui monte en généralité par rapport à la demande initiale du sujet.</a:t>
            </a:r>
            <a:endParaRPr/>
          </a:p>
        </p:txBody>
      </p:sp>
      <p:sp>
        <p:nvSpPr>
          <p:cNvPr id="323" name="Google Shape;3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 point important : la logique de contrôle (next_mode, seuils de drawdown/levier) est la même entre le modèle vérifié en Python, les fichiers NuSMV/PRISM, et l'algorithme QuantConnect, ce qui garantit que ce qui est prouvé correspond à ce qui s'exécute. En production, un moniteur embarqué revérifie les invariants à chaque barre et liquide en urgence en cas de violation détectée en direct.</a:t>
            </a:r>
            <a:endParaRPr/>
          </a:p>
        </p:txBody>
      </p:sp>
      <p:sp>
        <p:nvSpPr>
          <p:cNvPr id="353" name="Google Shape;3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Basculer sur le terminal ici et exécuter réellement verify.py (montre les 8 propriétés + le contre-exemple), puis rapidement run_backtest.py (0 violation sur 1260 barres, levier max 2x observé). Mentionner que les mêmes modèles existent en formats standards (models/nusmv/*.smv, models/prism/*.prism) pour qui veut les rejouer sous NuSMV/PRISM/Storm.</a:t>
            </a:r>
            <a:endParaRPr/>
          </a:p>
        </p:txBody>
      </p:sp>
      <p:sp>
        <p:nvSpPr>
          <p:cNvPr id="379" name="Google Shape;3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Conclure honnêtement : le model checking prouve exhaustivement sur le modèle fini choisi, pas sur la réalité elle-même, la valeur de la méthode dépend de la fidélité du modèle. Le backtest + moniteur runtime a détecté des sauts de drawdown plus grands que l'hypothèse du modèle (un pas = +1 bucket max), sans que cela casse la propriété de sûreté critique. C'est le message de clôture : la preuve formelle réduit le risque mais ne dispense pas de surveiller le terrain, d'où le moniteur d'invariants en production comme garde-fou.</a:t>
            </a:r>
            <a:endParaRPr/>
          </a:p>
        </p:txBody>
      </p:sp>
      <p:sp>
        <p:nvSpPr>
          <p:cNvPr id="396" name="Google Shape;39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340"/>
        </a:solidFill>
      </p:bgPr>
    </p:bg>
    <p:spTree>
      <p:nvGrpSpPr>
        <p:cNvPr id="15" name="Shape 15"/>
        <p:cNvGrpSpPr/>
        <p:nvPr/>
      </p:nvGrpSpPr>
      <p:grpSpPr>
        <a:xfrm>
          <a:off x="0" y="0"/>
          <a:ext cx="0" cy="0"/>
          <a:chOff x="0" y="0"/>
          <a:chExt cx="0" cy="0"/>
        </a:xfrm>
      </p:grpSpPr>
      <p:cxnSp>
        <p:nvCxnSpPr>
          <p:cNvPr id="16" name="Google Shape;16;p3"/>
          <p:cNvCxnSpPr/>
          <p:nvPr/>
        </p:nvCxnSpPr>
        <p:spPr>
          <a:xfrm>
            <a:off x="9692640" y="365760"/>
            <a:ext cx="1188720" cy="411480"/>
          </a:xfrm>
          <a:prstGeom prst="straightConnector1">
            <a:avLst/>
          </a:prstGeom>
          <a:noFill/>
          <a:ln cap="flat" cmpd="sng" w="19050">
            <a:solidFill>
              <a:srgbClr val="3A4470"/>
            </a:solidFill>
            <a:prstDash val="solid"/>
            <a:round/>
            <a:headEnd len="sm" w="sm" type="none"/>
            <a:tailEnd len="med" w="med" type="triangle"/>
          </a:ln>
        </p:spPr>
      </p:cxnSp>
      <p:cxnSp>
        <p:nvCxnSpPr>
          <p:cNvPr id="17" name="Google Shape;17;p3"/>
          <p:cNvCxnSpPr/>
          <p:nvPr/>
        </p:nvCxnSpPr>
        <p:spPr>
          <a:xfrm>
            <a:off x="10881360" y="777240"/>
            <a:ext cx="594360" cy="1005840"/>
          </a:xfrm>
          <a:prstGeom prst="straightConnector1">
            <a:avLst/>
          </a:prstGeom>
          <a:noFill/>
          <a:ln cap="flat" cmpd="sng" w="19050">
            <a:solidFill>
              <a:srgbClr val="3A4470"/>
            </a:solidFill>
            <a:prstDash val="solid"/>
            <a:round/>
            <a:headEnd len="sm" w="sm" type="none"/>
            <a:tailEnd len="med" w="med" type="triangle"/>
          </a:ln>
        </p:spPr>
      </p:cxnSp>
      <p:cxnSp>
        <p:nvCxnSpPr>
          <p:cNvPr id="18" name="Google Shape;18;p3"/>
          <p:cNvCxnSpPr/>
          <p:nvPr/>
        </p:nvCxnSpPr>
        <p:spPr>
          <a:xfrm>
            <a:off x="9281160" y="1783080"/>
            <a:ext cx="1097280" cy="365760"/>
          </a:xfrm>
          <a:prstGeom prst="straightConnector1">
            <a:avLst/>
          </a:prstGeom>
          <a:noFill/>
          <a:ln cap="flat" cmpd="sng" w="19050">
            <a:solidFill>
              <a:srgbClr val="3A4470"/>
            </a:solidFill>
            <a:prstDash val="solid"/>
            <a:round/>
            <a:headEnd len="sm" w="sm" type="none"/>
            <a:tailEnd len="med" w="med" type="triangle"/>
          </a:ln>
        </p:spPr>
      </p:cxnSp>
      <p:cxnSp>
        <p:nvCxnSpPr>
          <p:cNvPr id="19" name="Google Shape;19;p3"/>
          <p:cNvCxnSpPr/>
          <p:nvPr/>
        </p:nvCxnSpPr>
        <p:spPr>
          <a:xfrm>
            <a:off x="8549640" y="2148840"/>
            <a:ext cx="914400" cy="0"/>
          </a:xfrm>
          <a:prstGeom prst="straightConnector1">
            <a:avLst/>
          </a:prstGeom>
          <a:noFill/>
          <a:ln cap="flat" cmpd="sng" w="19050">
            <a:solidFill>
              <a:srgbClr val="3A4470"/>
            </a:solidFill>
            <a:prstDash val="solid"/>
            <a:round/>
            <a:headEnd len="sm" w="sm" type="none"/>
            <a:tailEnd len="med" w="med" type="triangle"/>
          </a:ln>
        </p:spPr>
      </p:cxnSp>
      <p:cxnSp>
        <p:nvCxnSpPr>
          <p:cNvPr id="20" name="Google Shape;20;p3"/>
          <p:cNvCxnSpPr/>
          <p:nvPr/>
        </p:nvCxnSpPr>
        <p:spPr>
          <a:xfrm>
            <a:off x="9464040" y="228600"/>
            <a:ext cx="228600" cy="960120"/>
          </a:xfrm>
          <a:prstGeom prst="straightConnector1">
            <a:avLst/>
          </a:prstGeom>
          <a:noFill/>
          <a:ln cap="flat" cmpd="sng" w="19050">
            <a:solidFill>
              <a:srgbClr val="3A4470"/>
            </a:solidFill>
            <a:prstDash val="solid"/>
            <a:round/>
            <a:headEnd len="sm" w="sm" type="none"/>
            <a:tailEnd len="med" w="med" type="triangle"/>
          </a:ln>
        </p:spPr>
      </p:cxnSp>
      <p:cxnSp>
        <p:nvCxnSpPr>
          <p:cNvPr id="21" name="Google Shape;21;p3"/>
          <p:cNvCxnSpPr/>
          <p:nvPr/>
        </p:nvCxnSpPr>
        <p:spPr>
          <a:xfrm>
            <a:off x="9692640" y="1188720"/>
            <a:ext cx="1783080" cy="594360"/>
          </a:xfrm>
          <a:prstGeom prst="straightConnector1">
            <a:avLst/>
          </a:prstGeom>
          <a:noFill/>
          <a:ln cap="flat" cmpd="sng" w="19050">
            <a:solidFill>
              <a:srgbClr val="3A4470"/>
            </a:solidFill>
            <a:prstDash val="solid"/>
            <a:round/>
            <a:headEnd len="sm" w="sm" type="none"/>
            <a:tailEnd len="med" w="med" type="triangle"/>
          </a:ln>
        </p:spPr>
      </p:cxnSp>
      <p:sp>
        <p:nvSpPr>
          <p:cNvPr id="22" name="Google Shape;22;p3"/>
          <p:cNvSpPr/>
          <p:nvPr/>
        </p:nvSpPr>
        <p:spPr>
          <a:xfrm>
            <a:off x="9564624" y="1060704"/>
            <a:ext cx="256032" cy="256032"/>
          </a:xfrm>
          <a:prstGeom prst="ellipse">
            <a:avLst/>
          </a:prstGeom>
          <a:solidFill>
            <a:srgbClr val="2C3560"/>
          </a:solidFill>
          <a:ln cap="flat" cmpd="sng" w="15875">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0753344" y="649224"/>
            <a:ext cx="256032" cy="256032"/>
          </a:xfrm>
          <a:prstGeom prst="ellipse">
            <a:avLst/>
          </a:prstGeom>
          <a:solidFill>
            <a:srgbClr val="2C3560"/>
          </a:solidFill>
          <a:ln cap="flat" cmpd="sng" w="15875">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1347704" y="1655064"/>
            <a:ext cx="256032" cy="256032"/>
          </a:xfrm>
          <a:prstGeom prst="ellipse">
            <a:avLst/>
          </a:prstGeom>
          <a:solidFill>
            <a:srgbClr val="2C3560"/>
          </a:solidFill>
          <a:ln cap="flat" cmpd="sng" w="15875">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0250424" y="2020824"/>
            <a:ext cx="256032" cy="256032"/>
          </a:xfrm>
          <a:prstGeom prst="ellipse">
            <a:avLst/>
          </a:prstGeom>
          <a:solidFill>
            <a:srgbClr val="2C3560"/>
          </a:solidFill>
          <a:ln cap="flat" cmpd="sng" w="15875">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9336024" y="2020824"/>
            <a:ext cx="256032" cy="256032"/>
          </a:xfrm>
          <a:prstGeom prst="ellipse">
            <a:avLst/>
          </a:prstGeom>
          <a:solidFill>
            <a:srgbClr val="2C3560"/>
          </a:solidFill>
          <a:ln cap="flat" cmpd="sng" w="15875">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22960" y="155448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300"/>
              <a:buFont typeface="Calibri"/>
              <a:buNone/>
            </a:pPr>
            <a:r>
              <a:rPr b="1" i="0" lang="en-US" sz="1300" u="none" cap="none" strike="noStrike">
                <a:solidFill>
                  <a:srgbClr val="4C5FD9"/>
                </a:solidFill>
                <a:latin typeface="Calibri"/>
                <a:ea typeface="Calibri"/>
                <a:cs typeface="Calibri"/>
                <a:sym typeface="Calibri"/>
              </a:rPr>
              <a:t>IASY S8  ·  Logique et vérification</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822960" y="2057400"/>
            <a:ext cx="969264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3800"/>
              <a:buFont typeface="Cambria"/>
              <a:buNone/>
            </a:pPr>
            <a:r>
              <a:rPr b="1" i="0" lang="en-US" sz="3800" u="none" cap="none" strike="noStrike">
                <a:solidFill>
                  <a:srgbClr val="FFFFFF"/>
                </a:solidFill>
                <a:latin typeface="Cambria"/>
                <a:ea typeface="Cambria"/>
                <a:cs typeface="Cambria"/>
                <a:sym typeface="Cambria"/>
              </a:rPr>
              <a:t>Model checking CTL d'un bot de trading</a:t>
            </a:r>
            <a:endParaRPr b="0" i="0" sz="38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3800"/>
              <a:buFont typeface="Cambria"/>
              <a:buNone/>
            </a:pPr>
            <a:r>
              <a:rPr b="1" i="0" lang="en-US" sz="3800" u="none" cap="none" strike="noStrike">
                <a:solidFill>
                  <a:srgbClr val="FFFFFF"/>
                </a:solidFill>
                <a:latin typeface="Cambria"/>
                <a:ea typeface="Cambria"/>
                <a:cs typeface="Cambria"/>
                <a:sym typeface="Cambria"/>
              </a:rPr>
              <a:t>avant déploiement live</a:t>
            </a:r>
            <a:endParaRPr b="0" i="0" sz="3800" u="none" cap="none" strike="noStrike">
              <a:solidFill>
                <a:schemeClr val="dk1"/>
              </a:solidFill>
              <a:latin typeface="Calibri"/>
              <a:ea typeface="Calibri"/>
              <a:cs typeface="Calibri"/>
              <a:sym typeface="Calibri"/>
            </a:endParaRPr>
          </a:p>
        </p:txBody>
      </p:sp>
      <p:sp>
        <p:nvSpPr>
          <p:cNvPr id="29" name="Google Shape;29;p3"/>
          <p:cNvSpPr/>
          <p:nvPr/>
        </p:nvSpPr>
        <p:spPr>
          <a:xfrm>
            <a:off x="822960" y="3977640"/>
            <a:ext cx="86868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FC0FF"/>
              </a:buClr>
              <a:buSzPts val="1800"/>
              <a:buFont typeface="Calibri"/>
              <a:buNone/>
            </a:pPr>
            <a:r>
              <a:rPr b="0" i="1" lang="en-US" sz="1800" u="none" cap="none" strike="noStrike">
                <a:solidFill>
                  <a:srgbClr val="AFC0FF"/>
                </a:solidFill>
                <a:latin typeface="Calibri"/>
                <a:ea typeface="Calibri"/>
                <a:cs typeface="Calibri"/>
                <a:sym typeface="Calibri"/>
              </a:rPr>
              <a:t>Preuve formelle de sûreté, pas un backtest</a:t>
            </a:r>
            <a:endParaRPr b="0" i="0" sz="1800" u="none" cap="none" strike="noStrike">
              <a:solidFill>
                <a:schemeClr val="dk1"/>
              </a:solidFill>
              <a:latin typeface="Calibri"/>
              <a:ea typeface="Calibri"/>
              <a:cs typeface="Calibri"/>
              <a:sym typeface="Calibri"/>
            </a:endParaRPr>
          </a:p>
        </p:txBody>
      </p:sp>
      <p:cxnSp>
        <p:nvCxnSpPr>
          <p:cNvPr id="30" name="Google Shape;30;p3"/>
          <p:cNvCxnSpPr/>
          <p:nvPr/>
        </p:nvCxnSpPr>
        <p:spPr>
          <a:xfrm>
            <a:off x="822960" y="4709160"/>
            <a:ext cx="2926080" cy="0"/>
          </a:xfrm>
          <a:prstGeom prst="straightConnector1">
            <a:avLst/>
          </a:prstGeom>
          <a:noFill/>
          <a:ln cap="flat" cmpd="sng" w="12700">
            <a:solidFill>
              <a:srgbClr val="3A4470"/>
            </a:solidFill>
            <a:prstDash val="solid"/>
            <a:round/>
            <a:headEnd len="sm" w="sm" type="none"/>
            <a:tailEnd len="sm" w="sm" type="none"/>
          </a:ln>
        </p:spPr>
      </p:cxnSp>
      <p:sp>
        <p:nvSpPr>
          <p:cNvPr id="31" name="Google Shape;31;p3"/>
          <p:cNvSpPr/>
          <p:nvPr/>
        </p:nvSpPr>
        <p:spPr>
          <a:xfrm>
            <a:off x="822960" y="61722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3C0"/>
              </a:buClr>
              <a:buSzPts val="1200"/>
              <a:buFont typeface="Calibri"/>
              <a:buNone/>
            </a:pPr>
            <a:r>
              <a:rPr b="0" i="0" lang="en-US" sz="1200" u="none" cap="none" strike="noStrike">
                <a:solidFill>
                  <a:srgbClr val="8A93C0"/>
                </a:solidFill>
                <a:latin typeface="Calibri"/>
                <a:ea typeface="Calibri"/>
                <a:cs typeface="Calibri"/>
                <a:sym typeface="Calibri"/>
              </a:rPr>
              <a:t>IASY S8  ·  Intelligence Symbolique  ·  Juillet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6" name="Shape 36"/>
        <p:cNvGrpSpPr/>
        <p:nvPr/>
      </p:nvGrpSpPr>
      <p:grpSpPr>
        <a:xfrm>
          <a:off x="0" y="0"/>
          <a:ext cx="0" cy="0"/>
          <a:chOff x="0" y="0"/>
          <a:chExt cx="0" cy="0"/>
        </a:xfrm>
      </p:grpSpPr>
      <p:sp>
        <p:nvSpPr>
          <p:cNvPr id="37" name="Google Shape;37;p4"/>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LE PROBLÈME</a:t>
            </a:r>
            <a:endParaRPr b="0" i="0" sz="1200" u="none" cap="none" strike="noStrike">
              <a:solidFill>
                <a:schemeClr val="dk1"/>
              </a:solidFill>
              <a:latin typeface="Calibri"/>
              <a:ea typeface="Calibri"/>
              <a:cs typeface="Calibri"/>
              <a:sym typeface="Calibri"/>
            </a:endParaRPr>
          </a:p>
        </p:txBody>
      </p:sp>
      <p:sp>
        <p:nvSpPr>
          <p:cNvPr id="38" name="Google Shape;38;p4"/>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Un backtest ne prouve rien</a:t>
            </a:r>
            <a:endParaRPr b="0" i="0" sz="3000" u="none" cap="none" strike="noStrike">
              <a:solidFill>
                <a:schemeClr val="dk1"/>
              </a:solidFill>
              <a:latin typeface="Calibri"/>
              <a:ea typeface="Calibri"/>
              <a:cs typeface="Calibri"/>
              <a:sym typeface="Calibri"/>
            </a:endParaRPr>
          </a:p>
        </p:txBody>
      </p:sp>
      <p:sp>
        <p:nvSpPr>
          <p:cNvPr id="39" name="Google Shape;39;p4"/>
          <p:cNvSpPr/>
          <p:nvPr/>
        </p:nvSpPr>
        <p:spPr>
          <a:xfrm>
            <a:off x="548640" y="1554480"/>
            <a:ext cx="5212080" cy="3931920"/>
          </a:xfrm>
          <a:prstGeom prst="roundRect">
            <a:avLst>
              <a:gd fmla="val 3256" name="adj"/>
            </a:avLst>
          </a:prstGeom>
          <a:solidFill>
            <a:srgbClr val="EEF0F5"/>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868680" y="178308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3A8"/>
              </a:buClr>
              <a:buSzPts val="1400"/>
              <a:buFont typeface="Calibri"/>
              <a:buNone/>
            </a:pPr>
            <a:r>
              <a:rPr b="1" i="0" lang="en-US" sz="1400" u="none" cap="none" strike="noStrike">
                <a:solidFill>
                  <a:srgbClr val="8A93A8"/>
                </a:solidFill>
                <a:latin typeface="Calibri"/>
                <a:ea typeface="Calibri"/>
                <a:cs typeface="Calibri"/>
                <a:sym typeface="Calibri"/>
              </a:rPr>
              <a:t>BACKTEST</a:t>
            </a:r>
            <a:endParaRPr b="0" i="0" sz="1400" u="none" cap="none" strike="noStrike">
              <a:solidFill>
                <a:schemeClr val="dk1"/>
              </a:solidFill>
              <a:latin typeface="Calibri"/>
              <a:ea typeface="Calibri"/>
              <a:cs typeface="Calibri"/>
              <a:sym typeface="Calibri"/>
            </a:endParaRPr>
          </a:p>
        </p:txBody>
      </p:sp>
      <p:sp>
        <p:nvSpPr>
          <p:cNvPr id="41" name="Google Shape;41;p4"/>
          <p:cNvSpPr/>
          <p:nvPr/>
        </p:nvSpPr>
        <p:spPr>
          <a:xfrm>
            <a:off x="964692" y="24277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964692" y="30373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964692" y="36469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964692" y="42565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1824228" y="24277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1824228" y="30373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1824228" y="36469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1824228" y="42565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2683764" y="24277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2683764" y="30373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2683764" y="36469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683764" y="42565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3543300" y="24277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543300" y="30373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3543300" y="36469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3543300" y="42565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4402836" y="24277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4402836" y="30373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402836" y="36469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4402836" y="42565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5262372" y="24277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5262372" y="30373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5262372" y="36469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5262372" y="4256532"/>
            <a:ext cx="82296" cy="82296"/>
          </a:xfrm>
          <a:prstGeom prst="ellipse">
            <a:avLst/>
          </a:prstGeom>
          <a:solidFill>
            <a:srgbClr val="D3D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 name="Google Shape;65;p4"/>
          <p:cNvCxnSpPr/>
          <p:nvPr/>
        </p:nvCxnSpPr>
        <p:spPr>
          <a:xfrm>
            <a:off x="1005840" y="3078480"/>
            <a:ext cx="859536" cy="0"/>
          </a:xfrm>
          <a:prstGeom prst="straightConnector1">
            <a:avLst/>
          </a:prstGeom>
          <a:noFill/>
          <a:ln cap="flat" cmpd="sng" w="31750">
            <a:solidFill>
              <a:srgbClr val="8A93A8"/>
            </a:solidFill>
            <a:prstDash val="solid"/>
            <a:round/>
            <a:headEnd len="sm" w="sm" type="none"/>
            <a:tailEnd len="med" w="med" type="triangle"/>
          </a:ln>
        </p:spPr>
      </p:cxnSp>
      <p:cxnSp>
        <p:nvCxnSpPr>
          <p:cNvPr id="66" name="Google Shape;66;p4"/>
          <p:cNvCxnSpPr/>
          <p:nvPr/>
        </p:nvCxnSpPr>
        <p:spPr>
          <a:xfrm>
            <a:off x="1865376" y="3078480"/>
            <a:ext cx="859536" cy="609600"/>
          </a:xfrm>
          <a:prstGeom prst="straightConnector1">
            <a:avLst/>
          </a:prstGeom>
          <a:noFill/>
          <a:ln cap="flat" cmpd="sng" w="31750">
            <a:solidFill>
              <a:srgbClr val="8A93A8"/>
            </a:solidFill>
            <a:prstDash val="solid"/>
            <a:round/>
            <a:headEnd len="sm" w="sm" type="none"/>
            <a:tailEnd len="med" w="med" type="triangle"/>
          </a:ln>
        </p:spPr>
      </p:cxnSp>
      <p:cxnSp>
        <p:nvCxnSpPr>
          <p:cNvPr id="67" name="Google Shape;67;p4"/>
          <p:cNvCxnSpPr/>
          <p:nvPr/>
        </p:nvCxnSpPr>
        <p:spPr>
          <a:xfrm>
            <a:off x="2724912" y="3688080"/>
            <a:ext cx="859536" cy="0"/>
          </a:xfrm>
          <a:prstGeom prst="straightConnector1">
            <a:avLst/>
          </a:prstGeom>
          <a:noFill/>
          <a:ln cap="flat" cmpd="sng" w="31750">
            <a:solidFill>
              <a:srgbClr val="8A93A8"/>
            </a:solidFill>
            <a:prstDash val="solid"/>
            <a:round/>
            <a:headEnd len="sm" w="sm" type="none"/>
            <a:tailEnd len="med" w="med" type="triangle"/>
          </a:ln>
        </p:spPr>
      </p:cxnSp>
      <p:cxnSp>
        <p:nvCxnSpPr>
          <p:cNvPr id="68" name="Google Shape;68;p4"/>
          <p:cNvCxnSpPr/>
          <p:nvPr/>
        </p:nvCxnSpPr>
        <p:spPr>
          <a:xfrm>
            <a:off x="3584448" y="2468880"/>
            <a:ext cx="859536" cy="609600"/>
          </a:xfrm>
          <a:prstGeom prst="straightConnector1">
            <a:avLst/>
          </a:prstGeom>
          <a:noFill/>
          <a:ln cap="flat" cmpd="sng" w="31750">
            <a:solidFill>
              <a:srgbClr val="8A93A8"/>
            </a:solidFill>
            <a:prstDash val="solid"/>
            <a:round/>
            <a:headEnd len="sm" w="sm" type="none"/>
            <a:tailEnd len="med" w="med" type="triangle"/>
          </a:ln>
        </p:spPr>
      </p:cxnSp>
      <p:cxnSp>
        <p:nvCxnSpPr>
          <p:cNvPr id="69" name="Google Shape;69;p4"/>
          <p:cNvCxnSpPr/>
          <p:nvPr/>
        </p:nvCxnSpPr>
        <p:spPr>
          <a:xfrm>
            <a:off x="4443984" y="3078480"/>
            <a:ext cx="859536" cy="0"/>
          </a:xfrm>
          <a:prstGeom prst="straightConnector1">
            <a:avLst/>
          </a:prstGeom>
          <a:noFill/>
          <a:ln cap="flat" cmpd="sng" w="31750">
            <a:solidFill>
              <a:srgbClr val="8A93A8"/>
            </a:solidFill>
            <a:prstDash val="solid"/>
            <a:round/>
            <a:headEnd len="sm" w="sm" type="none"/>
            <a:tailEnd len="med" w="med" type="triangle"/>
          </a:ln>
        </p:spPr>
      </p:cxnSp>
      <p:sp>
        <p:nvSpPr>
          <p:cNvPr id="70" name="Google Shape;70;p4"/>
          <p:cNvSpPr/>
          <p:nvPr/>
        </p:nvSpPr>
        <p:spPr>
          <a:xfrm>
            <a:off x="950976" y="3023616"/>
            <a:ext cx="109728" cy="109728"/>
          </a:xfrm>
          <a:prstGeom prst="ellipse">
            <a:avLst/>
          </a:prstGeom>
          <a:solidFill>
            <a:srgbClr val="8A9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1810512" y="3023616"/>
            <a:ext cx="109728" cy="109728"/>
          </a:xfrm>
          <a:prstGeom prst="ellipse">
            <a:avLst/>
          </a:prstGeom>
          <a:solidFill>
            <a:srgbClr val="8A9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2670048" y="3633216"/>
            <a:ext cx="109728" cy="109728"/>
          </a:xfrm>
          <a:prstGeom prst="ellipse">
            <a:avLst/>
          </a:prstGeom>
          <a:solidFill>
            <a:srgbClr val="8A9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3529584" y="3633216"/>
            <a:ext cx="109728" cy="109728"/>
          </a:xfrm>
          <a:prstGeom prst="ellipse">
            <a:avLst/>
          </a:prstGeom>
          <a:solidFill>
            <a:srgbClr val="8A9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4389120" y="3023616"/>
            <a:ext cx="109728" cy="109728"/>
          </a:xfrm>
          <a:prstGeom prst="ellipse">
            <a:avLst/>
          </a:prstGeom>
          <a:solidFill>
            <a:srgbClr val="8A9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5248656" y="3023616"/>
            <a:ext cx="109728" cy="109728"/>
          </a:xfrm>
          <a:prstGeom prst="ellipse">
            <a:avLst/>
          </a:prstGeom>
          <a:solidFill>
            <a:srgbClr val="8A9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868680" y="4526280"/>
            <a:ext cx="45720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741"/>
              </a:buClr>
              <a:buSzPts val="1300"/>
              <a:buFont typeface="Calibri"/>
              <a:buNone/>
            </a:pPr>
            <a:r>
              <a:rPr b="0" i="0" lang="en-US" sz="1300" u="none" cap="none" strike="noStrike">
                <a:solidFill>
                  <a:srgbClr val="232741"/>
                </a:solidFill>
                <a:latin typeface="Calibri"/>
                <a:ea typeface="Calibri"/>
                <a:cs typeface="Calibri"/>
                <a:sym typeface="Calibri"/>
              </a:rPr>
              <a:t>Un seul chemin d'exécution, parmi une infinité de scénarios de marché possibles.</a:t>
            </a:r>
            <a:endParaRPr b="0" i="0" sz="1300" u="none" cap="none" strike="noStrike">
              <a:solidFill>
                <a:schemeClr val="dk1"/>
              </a:solidFill>
              <a:latin typeface="Calibri"/>
              <a:ea typeface="Calibri"/>
              <a:cs typeface="Calibri"/>
              <a:sym typeface="Calibri"/>
            </a:endParaRPr>
          </a:p>
        </p:txBody>
      </p:sp>
      <p:sp>
        <p:nvSpPr>
          <p:cNvPr id="77" name="Google Shape;77;p4"/>
          <p:cNvSpPr/>
          <p:nvPr/>
        </p:nvSpPr>
        <p:spPr>
          <a:xfrm>
            <a:off x="6080760" y="1554480"/>
            <a:ext cx="5212080" cy="3931920"/>
          </a:xfrm>
          <a:prstGeom prst="roundRect">
            <a:avLst>
              <a:gd fmla="val 3256" name="adj"/>
            </a:avLst>
          </a:prstGeom>
          <a:solidFill>
            <a:srgbClr val="4C5FD9"/>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6400800" y="178308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MODEL CHECKING</a:t>
            </a:r>
            <a:endParaRPr b="0" i="0" sz="1400" u="none" cap="none" strike="noStrike">
              <a:solidFill>
                <a:schemeClr val="dk1"/>
              </a:solidFill>
              <a:latin typeface="Calibri"/>
              <a:ea typeface="Calibri"/>
              <a:cs typeface="Calibri"/>
              <a:sym typeface="Calibri"/>
            </a:endParaRPr>
          </a:p>
        </p:txBody>
      </p:sp>
      <p:cxnSp>
        <p:nvCxnSpPr>
          <p:cNvPr id="79" name="Google Shape;79;p4"/>
          <p:cNvCxnSpPr/>
          <p:nvPr/>
        </p:nvCxnSpPr>
        <p:spPr>
          <a:xfrm>
            <a:off x="6537960" y="24688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80" name="Google Shape;80;p4"/>
          <p:cNvCxnSpPr/>
          <p:nvPr/>
        </p:nvCxnSpPr>
        <p:spPr>
          <a:xfrm>
            <a:off x="6537960"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81" name="Google Shape;81;p4"/>
          <p:cNvCxnSpPr/>
          <p:nvPr/>
        </p:nvCxnSpPr>
        <p:spPr>
          <a:xfrm>
            <a:off x="6537960" y="18592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82" name="Google Shape;82;p4"/>
          <p:cNvCxnSpPr/>
          <p:nvPr/>
        </p:nvCxnSpPr>
        <p:spPr>
          <a:xfrm>
            <a:off x="6537960" y="30784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83" name="Google Shape;83;p4"/>
          <p:cNvCxnSpPr/>
          <p:nvPr/>
        </p:nvCxnSpPr>
        <p:spPr>
          <a:xfrm>
            <a:off x="6537960"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84" name="Google Shape;84;p4"/>
          <p:cNvCxnSpPr/>
          <p:nvPr/>
        </p:nvCxnSpPr>
        <p:spPr>
          <a:xfrm>
            <a:off x="6537960"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85" name="Google Shape;85;p4"/>
          <p:cNvCxnSpPr/>
          <p:nvPr/>
        </p:nvCxnSpPr>
        <p:spPr>
          <a:xfrm>
            <a:off x="6537960" y="36880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86" name="Google Shape;86;p4"/>
          <p:cNvCxnSpPr/>
          <p:nvPr/>
        </p:nvCxnSpPr>
        <p:spPr>
          <a:xfrm>
            <a:off x="6537960" y="36880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87" name="Google Shape;87;p4"/>
          <p:cNvCxnSpPr/>
          <p:nvPr/>
        </p:nvCxnSpPr>
        <p:spPr>
          <a:xfrm>
            <a:off x="6537960"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88" name="Google Shape;88;p4"/>
          <p:cNvCxnSpPr/>
          <p:nvPr/>
        </p:nvCxnSpPr>
        <p:spPr>
          <a:xfrm>
            <a:off x="6537960" y="42976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89" name="Google Shape;89;p4"/>
          <p:cNvCxnSpPr/>
          <p:nvPr/>
        </p:nvCxnSpPr>
        <p:spPr>
          <a:xfrm>
            <a:off x="7397496" y="24688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90" name="Google Shape;90;p4"/>
          <p:cNvCxnSpPr/>
          <p:nvPr/>
        </p:nvCxnSpPr>
        <p:spPr>
          <a:xfrm>
            <a:off x="7397496"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91" name="Google Shape;91;p4"/>
          <p:cNvCxnSpPr/>
          <p:nvPr/>
        </p:nvCxnSpPr>
        <p:spPr>
          <a:xfrm>
            <a:off x="7397496" y="18592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92" name="Google Shape;92;p4"/>
          <p:cNvCxnSpPr/>
          <p:nvPr/>
        </p:nvCxnSpPr>
        <p:spPr>
          <a:xfrm>
            <a:off x="7397496" y="30784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93" name="Google Shape;93;p4"/>
          <p:cNvCxnSpPr/>
          <p:nvPr/>
        </p:nvCxnSpPr>
        <p:spPr>
          <a:xfrm>
            <a:off x="7397496"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94" name="Google Shape;94;p4"/>
          <p:cNvCxnSpPr/>
          <p:nvPr/>
        </p:nvCxnSpPr>
        <p:spPr>
          <a:xfrm>
            <a:off x="7397496"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95" name="Google Shape;95;p4"/>
          <p:cNvCxnSpPr/>
          <p:nvPr/>
        </p:nvCxnSpPr>
        <p:spPr>
          <a:xfrm>
            <a:off x="7397496" y="36880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96" name="Google Shape;96;p4"/>
          <p:cNvCxnSpPr/>
          <p:nvPr/>
        </p:nvCxnSpPr>
        <p:spPr>
          <a:xfrm>
            <a:off x="7397496" y="36880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97" name="Google Shape;97;p4"/>
          <p:cNvCxnSpPr/>
          <p:nvPr/>
        </p:nvCxnSpPr>
        <p:spPr>
          <a:xfrm>
            <a:off x="7397496"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98" name="Google Shape;98;p4"/>
          <p:cNvCxnSpPr/>
          <p:nvPr/>
        </p:nvCxnSpPr>
        <p:spPr>
          <a:xfrm>
            <a:off x="7397496" y="42976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99" name="Google Shape;99;p4"/>
          <p:cNvCxnSpPr/>
          <p:nvPr/>
        </p:nvCxnSpPr>
        <p:spPr>
          <a:xfrm>
            <a:off x="8257032" y="24688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00" name="Google Shape;100;p4"/>
          <p:cNvCxnSpPr/>
          <p:nvPr/>
        </p:nvCxnSpPr>
        <p:spPr>
          <a:xfrm>
            <a:off x="8257032"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01" name="Google Shape;101;p4"/>
          <p:cNvCxnSpPr/>
          <p:nvPr/>
        </p:nvCxnSpPr>
        <p:spPr>
          <a:xfrm>
            <a:off x="8257032" y="18592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02" name="Google Shape;102;p4"/>
          <p:cNvCxnSpPr/>
          <p:nvPr/>
        </p:nvCxnSpPr>
        <p:spPr>
          <a:xfrm>
            <a:off x="8257032" y="30784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03" name="Google Shape;103;p4"/>
          <p:cNvCxnSpPr/>
          <p:nvPr/>
        </p:nvCxnSpPr>
        <p:spPr>
          <a:xfrm>
            <a:off x="8257032"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04" name="Google Shape;104;p4"/>
          <p:cNvCxnSpPr/>
          <p:nvPr/>
        </p:nvCxnSpPr>
        <p:spPr>
          <a:xfrm>
            <a:off x="8257032"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05" name="Google Shape;105;p4"/>
          <p:cNvCxnSpPr/>
          <p:nvPr/>
        </p:nvCxnSpPr>
        <p:spPr>
          <a:xfrm>
            <a:off x="8257032" y="36880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06" name="Google Shape;106;p4"/>
          <p:cNvCxnSpPr/>
          <p:nvPr/>
        </p:nvCxnSpPr>
        <p:spPr>
          <a:xfrm>
            <a:off x="8257032" y="36880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07" name="Google Shape;107;p4"/>
          <p:cNvCxnSpPr/>
          <p:nvPr/>
        </p:nvCxnSpPr>
        <p:spPr>
          <a:xfrm>
            <a:off x="8257032"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08" name="Google Shape;108;p4"/>
          <p:cNvCxnSpPr/>
          <p:nvPr/>
        </p:nvCxnSpPr>
        <p:spPr>
          <a:xfrm>
            <a:off x="8257032" y="42976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09" name="Google Shape;109;p4"/>
          <p:cNvCxnSpPr/>
          <p:nvPr/>
        </p:nvCxnSpPr>
        <p:spPr>
          <a:xfrm>
            <a:off x="9116568" y="24688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10" name="Google Shape;110;p4"/>
          <p:cNvCxnSpPr/>
          <p:nvPr/>
        </p:nvCxnSpPr>
        <p:spPr>
          <a:xfrm>
            <a:off x="9116568"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11" name="Google Shape;111;p4"/>
          <p:cNvCxnSpPr/>
          <p:nvPr/>
        </p:nvCxnSpPr>
        <p:spPr>
          <a:xfrm>
            <a:off x="9116568" y="18592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12" name="Google Shape;112;p4"/>
          <p:cNvCxnSpPr/>
          <p:nvPr/>
        </p:nvCxnSpPr>
        <p:spPr>
          <a:xfrm>
            <a:off x="9116568" y="30784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13" name="Google Shape;113;p4"/>
          <p:cNvCxnSpPr/>
          <p:nvPr/>
        </p:nvCxnSpPr>
        <p:spPr>
          <a:xfrm>
            <a:off x="9116568"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14" name="Google Shape;114;p4"/>
          <p:cNvCxnSpPr/>
          <p:nvPr/>
        </p:nvCxnSpPr>
        <p:spPr>
          <a:xfrm>
            <a:off x="9116568"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15" name="Google Shape;115;p4"/>
          <p:cNvCxnSpPr/>
          <p:nvPr/>
        </p:nvCxnSpPr>
        <p:spPr>
          <a:xfrm>
            <a:off x="9116568" y="36880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16" name="Google Shape;116;p4"/>
          <p:cNvCxnSpPr/>
          <p:nvPr/>
        </p:nvCxnSpPr>
        <p:spPr>
          <a:xfrm>
            <a:off x="9116568" y="36880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17" name="Google Shape;117;p4"/>
          <p:cNvCxnSpPr/>
          <p:nvPr/>
        </p:nvCxnSpPr>
        <p:spPr>
          <a:xfrm>
            <a:off x="9116568"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18" name="Google Shape;118;p4"/>
          <p:cNvCxnSpPr/>
          <p:nvPr/>
        </p:nvCxnSpPr>
        <p:spPr>
          <a:xfrm>
            <a:off x="9116568" y="42976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19" name="Google Shape;119;p4"/>
          <p:cNvCxnSpPr/>
          <p:nvPr/>
        </p:nvCxnSpPr>
        <p:spPr>
          <a:xfrm>
            <a:off x="9976104" y="24688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20" name="Google Shape;120;p4"/>
          <p:cNvCxnSpPr/>
          <p:nvPr/>
        </p:nvCxnSpPr>
        <p:spPr>
          <a:xfrm>
            <a:off x="9976104"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21" name="Google Shape;121;p4"/>
          <p:cNvCxnSpPr/>
          <p:nvPr/>
        </p:nvCxnSpPr>
        <p:spPr>
          <a:xfrm>
            <a:off x="9976104" y="18592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22" name="Google Shape;122;p4"/>
          <p:cNvCxnSpPr/>
          <p:nvPr/>
        </p:nvCxnSpPr>
        <p:spPr>
          <a:xfrm>
            <a:off x="9976104" y="30784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23" name="Google Shape;123;p4"/>
          <p:cNvCxnSpPr/>
          <p:nvPr/>
        </p:nvCxnSpPr>
        <p:spPr>
          <a:xfrm>
            <a:off x="9976104"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24" name="Google Shape;124;p4"/>
          <p:cNvCxnSpPr/>
          <p:nvPr/>
        </p:nvCxnSpPr>
        <p:spPr>
          <a:xfrm>
            <a:off x="9976104" y="24688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25" name="Google Shape;125;p4"/>
          <p:cNvCxnSpPr/>
          <p:nvPr/>
        </p:nvCxnSpPr>
        <p:spPr>
          <a:xfrm>
            <a:off x="9976104" y="3688080"/>
            <a:ext cx="859536" cy="0"/>
          </a:xfrm>
          <a:prstGeom prst="straightConnector1">
            <a:avLst/>
          </a:prstGeom>
          <a:noFill/>
          <a:ln cap="flat" cmpd="sng" w="12700">
            <a:solidFill>
              <a:srgbClr val="8598F0"/>
            </a:solidFill>
            <a:prstDash val="solid"/>
            <a:round/>
            <a:headEnd len="sm" w="sm" type="none"/>
            <a:tailEnd len="med" w="med" type="triangle"/>
          </a:ln>
        </p:spPr>
      </p:cxnSp>
      <p:cxnSp>
        <p:nvCxnSpPr>
          <p:cNvPr id="126" name="Google Shape;126;p4"/>
          <p:cNvCxnSpPr/>
          <p:nvPr/>
        </p:nvCxnSpPr>
        <p:spPr>
          <a:xfrm>
            <a:off x="9976104" y="36880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27" name="Google Shape;127;p4"/>
          <p:cNvCxnSpPr/>
          <p:nvPr/>
        </p:nvCxnSpPr>
        <p:spPr>
          <a:xfrm>
            <a:off x="9976104" y="3078480"/>
            <a:ext cx="859536" cy="609600"/>
          </a:xfrm>
          <a:prstGeom prst="straightConnector1">
            <a:avLst/>
          </a:prstGeom>
          <a:noFill/>
          <a:ln cap="flat" cmpd="sng" w="12700">
            <a:solidFill>
              <a:srgbClr val="8598F0"/>
            </a:solidFill>
            <a:prstDash val="solid"/>
            <a:round/>
            <a:headEnd len="sm" w="sm" type="none"/>
            <a:tailEnd len="med" w="med" type="triangle"/>
          </a:ln>
        </p:spPr>
      </p:cxnSp>
      <p:cxnSp>
        <p:nvCxnSpPr>
          <p:cNvPr id="128" name="Google Shape;128;p4"/>
          <p:cNvCxnSpPr/>
          <p:nvPr/>
        </p:nvCxnSpPr>
        <p:spPr>
          <a:xfrm>
            <a:off x="9976104" y="4297680"/>
            <a:ext cx="859536" cy="0"/>
          </a:xfrm>
          <a:prstGeom prst="straightConnector1">
            <a:avLst/>
          </a:prstGeom>
          <a:noFill/>
          <a:ln cap="flat" cmpd="sng" w="12700">
            <a:solidFill>
              <a:srgbClr val="8598F0"/>
            </a:solidFill>
            <a:prstDash val="solid"/>
            <a:round/>
            <a:headEnd len="sm" w="sm" type="none"/>
            <a:tailEnd len="med" w="med" type="triangle"/>
          </a:ln>
        </p:spPr>
      </p:cxnSp>
      <p:sp>
        <p:nvSpPr>
          <p:cNvPr id="129" name="Google Shape;129;p4"/>
          <p:cNvSpPr/>
          <p:nvPr/>
        </p:nvSpPr>
        <p:spPr>
          <a:xfrm>
            <a:off x="6483096" y="24140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6483096" y="30236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6483096" y="36332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6483096" y="42428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7342632" y="24140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7342632" y="30236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7342632" y="36332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7342632" y="42428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8202168" y="24140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8202168" y="30236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202168" y="36332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8202168" y="42428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9061704" y="24140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9061704" y="30236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9061704" y="36332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9061704" y="42428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9921240" y="24140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9921240" y="30236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9921240" y="36332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9921240" y="42428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10780776" y="24140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10780776" y="30236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10780776" y="36332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10780776" y="4242816"/>
            <a:ext cx="109728" cy="1097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6400800" y="4526280"/>
            <a:ext cx="45720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Tous les chemins accessibles sont parcourus et vérifiés exhaustivement.</a:t>
            </a:r>
            <a:endParaRPr b="0" i="0" sz="1300" u="none" cap="none" strike="noStrike">
              <a:solidFill>
                <a:schemeClr val="dk1"/>
              </a:solidFill>
              <a:latin typeface="Calibri"/>
              <a:ea typeface="Calibri"/>
              <a:cs typeface="Calibri"/>
              <a:sym typeface="Calibri"/>
            </a:endParaRPr>
          </a:p>
        </p:txBody>
      </p:sp>
      <p:sp>
        <p:nvSpPr>
          <p:cNvPr id="154" name="Google Shape;154;p4"/>
          <p:cNvSpPr/>
          <p:nvPr/>
        </p:nvSpPr>
        <p:spPr>
          <a:xfrm>
            <a:off x="548640" y="5715000"/>
            <a:ext cx="110642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700"/>
              <a:buFont typeface="Cambria"/>
              <a:buNone/>
            </a:pPr>
            <a:r>
              <a:rPr b="0" i="0" lang="en-US" sz="1700" u="none" cap="none" strike="noStrike">
                <a:solidFill>
                  <a:srgbClr val="232741"/>
                </a:solidFill>
                <a:latin typeface="Cambria"/>
                <a:ea typeface="Cambria"/>
                <a:cs typeface="Cambria"/>
                <a:sym typeface="Cambria"/>
              </a:rPr>
              <a:t>Un backtest teste </a:t>
            </a:r>
            <a:r>
              <a:rPr b="1" i="0" lang="en-US" sz="1700" u="none" cap="none" strike="noStrike">
                <a:solidFill>
                  <a:srgbClr val="E15554"/>
                </a:solidFill>
                <a:latin typeface="Cambria"/>
                <a:ea typeface="Cambria"/>
                <a:cs typeface="Cambria"/>
                <a:sym typeface="Cambria"/>
              </a:rPr>
              <a:t>UN</a:t>
            </a:r>
            <a:r>
              <a:rPr b="0" i="0" lang="en-US" sz="1700" u="none" cap="none" strike="noStrike">
                <a:solidFill>
                  <a:srgbClr val="232741"/>
                </a:solidFill>
                <a:latin typeface="Cambria"/>
                <a:ea typeface="Cambria"/>
                <a:cs typeface="Cambria"/>
                <a:sym typeface="Cambria"/>
              </a:rPr>
              <a:t> chemin parmi une infinité. Le model checking les vérifie </a:t>
            </a:r>
            <a:r>
              <a:rPr b="1" i="0" lang="en-US" sz="1700" u="none" cap="none" strike="noStrike">
                <a:solidFill>
                  <a:srgbClr val="2E9E64"/>
                </a:solidFill>
                <a:latin typeface="Cambria"/>
                <a:ea typeface="Cambria"/>
                <a:cs typeface="Cambria"/>
                <a:sym typeface="Cambria"/>
              </a:rPr>
              <a:t>TOUS</a:t>
            </a:r>
            <a:r>
              <a:rPr b="0" i="0" lang="en-US" sz="1700" u="none" cap="none" strike="noStrike">
                <a:solidFill>
                  <a:srgbClr val="232741"/>
                </a:solidFill>
                <a:latin typeface="Cambria"/>
                <a:ea typeface="Cambria"/>
                <a:cs typeface="Cambria"/>
                <a:sym typeface="Cambria"/>
              </a:rPr>
              <a:t>.</a:t>
            </a:r>
            <a:endParaRPr b="0" i="0" sz="1700" u="none" cap="none" strike="noStrike">
              <a:solidFill>
                <a:schemeClr val="dk1"/>
              </a:solidFill>
              <a:latin typeface="Calibri"/>
              <a:ea typeface="Calibri"/>
              <a:cs typeface="Calibri"/>
              <a:sym typeface="Calibri"/>
            </a:endParaRPr>
          </a:p>
        </p:txBody>
      </p:sp>
      <p:sp>
        <p:nvSpPr>
          <p:cNvPr id="155" name="Google Shape;155;p4"/>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02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160" name="Shape 160"/>
        <p:cNvGrpSpPr/>
        <p:nvPr/>
      </p:nvGrpSpPr>
      <p:grpSpPr>
        <a:xfrm>
          <a:off x="0" y="0"/>
          <a:ext cx="0" cy="0"/>
          <a:chOff x="0" y="0"/>
          <a:chExt cx="0" cy="0"/>
        </a:xfrm>
      </p:grpSpPr>
      <p:sp>
        <p:nvSpPr>
          <p:cNvPr id="161" name="Google Shape;161;p5"/>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CADRE DU COURS</a:t>
            </a:r>
            <a:endParaRPr b="0" i="0" sz="1200" u="none" cap="none" strike="noStrike">
              <a:solidFill>
                <a:schemeClr val="dk1"/>
              </a:solidFill>
              <a:latin typeface="Calibri"/>
              <a:ea typeface="Calibri"/>
              <a:cs typeface="Calibri"/>
              <a:sym typeface="Calibri"/>
            </a:endParaRPr>
          </a:p>
        </p:txBody>
      </p:sp>
      <p:sp>
        <p:nvSpPr>
          <p:cNvPr id="162" name="Google Shape;162;p5"/>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Où est l'IA symbolique là-dedans ?</a:t>
            </a:r>
            <a:endParaRPr b="0" i="0" sz="3000" u="none" cap="none" strike="noStrike">
              <a:solidFill>
                <a:schemeClr val="dk1"/>
              </a:solidFill>
              <a:latin typeface="Calibri"/>
              <a:ea typeface="Calibri"/>
              <a:cs typeface="Calibri"/>
              <a:sym typeface="Calibri"/>
            </a:endParaRPr>
          </a:p>
        </p:txBody>
      </p:sp>
      <p:sp>
        <p:nvSpPr>
          <p:cNvPr id="163" name="Google Shape;163;p5"/>
          <p:cNvSpPr/>
          <p:nvPr/>
        </p:nvSpPr>
        <p:spPr>
          <a:xfrm>
            <a:off x="1828800" y="1600200"/>
            <a:ext cx="8531352" cy="457200"/>
          </a:xfrm>
          <a:prstGeom prst="roundRect">
            <a:avLst>
              <a:gd fmla="val 50000" name="adj"/>
            </a:avLst>
          </a:prstGeom>
          <a:solidFill>
            <a:srgbClr val="23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1828800" y="1600200"/>
            <a:ext cx="8531352"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Le trading est le cas d'usage. La preuve formelle est le sujet.</a:t>
            </a:r>
            <a:endParaRPr b="0" i="0" sz="1300" u="none" cap="none" strike="noStrike">
              <a:solidFill>
                <a:schemeClr val="dk1"/>
              </a:solidFill>
              <a:latin typeface="Calibri"/>
              <a:ea typeface="Calibri"/>
              <a:cs typeface="Calibri"/>
              <a:sym typeface="Calibri"/>
            </a:endParaRPr>
          </a:p>
        </p:txBody>
      </p:sp>
      <p:sp>
        <p:nvSpPr>
          <p:cNvPr id="165" name="Google Shape;165;p5"/>
          <p:cNvSpPr/>
          <p:nvPr/>
        </p:nvSpPr>
        <p:spPr>
          <a:xfrm>
            <a:off x="548640" y="2514600"/>
            <a:ext cx="3246120" cy="2377440"/>
          </a:xfrm>
          <a:prstGeom prst="roundRect">
            <a:avLst>
              <a:gd fmla="val 5385" name="adj"/>
            </a:avLst>
          </a:prstGeom>
          <a:solidFill>
            <a:srgbClr val="FFFFF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1787652" y="2834640"/>
            <a:ext cx="768096" cy="768096"/>
          </a:xfrm>
          <a:prstGeom prst="ellipse">
            <a:avLst/>
          </a:prstGeom>
          <a:solidFill>
            <a:srgbClr val="4C5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1787652" y="2834640"/>
            <a:ext cx="768096" cy="7680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1</a:t>
            </a:r>
            <a:endParaRPr b="0" i="0" sz="2600" u="none" cap="none" strike="noStrike">
              <a:solidFill>
                <a:schemeClr val="dk1"/>
              </a:solidFill>
              <a:latin typeface="Calibri"/>
              <a:ea typeface="Calibri"/>
              <a:cs typeface="Calibri"/>
              <a:sym typeface="Calibri"/>
            </a:endParaRPr>
          </a:p>
        </p:txBody>
      </p:sp>
      <p:sp>
        <p:nvSpPr>
          <p:cNvPr id="168" name="Google Shape;168;p5"/>
          <p:cNvSpPr/>
          <p:nvPr/>
        </p:nvSpPr>
        <p:spPr>
          <a:xfrm>
            <a:off x="731520" y="3749040"/>
            <a:ext cx="2880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400"/>
              <a:buFont typeface="Calibri"/>
              <a:buNone/>
            </a:pPr>
            <a:r>
              <a:rPr b="1" i="0" lang="en-US" sz="1400" u="none" cap="none" strike="noStrike">
                <a:solidFill>
                  <a:srgbClr val="232741"/>
                </a:solidFill>
                <a:latin typeface="Calibri"/>
                <a:ea typeface="Calibri"/>
                <a:cs typeface="Calibri"/>
                <a:sym typeface="Calibri"/>
              </a:rPr>
              <a:t>LOGIQUE TEMPORELLE (CTL)</a:t>
            </a:r>
            <a:endParaRPr b="0" i="0" sz="1400" u="none" cap="none" strike="noStrike">
              <a:solidFill>
                <a:schemeClr val="dk1"/>
              </a:solidFill>
              <a:latin typeface="Calibri"/>
              <a:ea typeface="Calibri"/>
              <a:cs typeface="Calibri"/>
              <a:sym typeface="Calibri"/>
            </a:endParaRPr>
          </a:p>
        </p:txBody>
      </p:sp>
      <p:sp>
        <p:nvSpPr>
          <p:cNvPr id="169" name="Google Shape;169;p5"/>
          <p:cNvSpPr/>
          <p:nvPr/>
        </p:nvSpPr>
        <p:spPr>
          <a:xfrm>
            <a:off x="731520" y="4343400"/>
            <a:ext cx="2880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280"/>
              </a:buClr>
              <a:buSzPts val="1300"/>
              <a:buFont typeface="Courier New"/>
              <a:buNone/>
            </a:pPr>
            <a:r>
              <a:rPr b="0" i="0" lang="en-US" sz="1300" u="none" cap="none" strike="noStrike">
                <a:solidFill>
                  <a:srgbClr val="6B7280"/>
                </a:solidFill>
                <a:latin typeface="Courier New"/>
                <a:ea typeface="Courier New"/>
                <a:cs typeface="Courier New"/>
                <a:sym typeface="Courier New"/>
              </a:rPr>
              <a:t>AG (halted → AF flat)</a:t>
            </a:r>
            <a:endParaRPr b="0" i="0" sz="1300" u="none" cap="none" strike="noStrike">
              <a:solidFill>
                <a:schemeClr val="dk1"/>
              </a:solidFill>
              <a:latin typeface="Calibri"/>
              <a:ea typeface="Calibri"/>
              <a:cs typeface="Calibri"/>
              <a:sym typeface="Calibri"/>
            </a:endParaRPr>
          </a:p>
        </p:txBody>
      </p:sp>
      <p:cxnSp>
        <p:nvCxnSpPr>
          <p:cNvPr id="170" name="Google Shape;170;p5"/>
          <p:cNvCxnSpPr/>
          <p:nvPr/>
        </p:nvCxnSpPr>
        <p:spPr>
          <a:xfrm>
            <a:off x="3831336" y="3703320"/>
            <a:ext cx="329184" cy="0"/>
          </a:xfrm>
          <a:prstGeom prst="straightConnector1">
            <a:avLst/>
          </a:prstGeom>
          <a:noFill/>
          <a:ln cap="flat" cmpd="sng" w="31750">
            <a:solidFill>
              <a:srgbClr val="1B2340"/>
            </a:solidFill>
            <a:prstDash val="solid"/>
            <a:round/>
            <a:headEnd len="sm" w="sm" type="none"/>
            <a:tailEnd len="med" w="med" type="triangle"/>
          </a:ln>
        </p:spPr>
      </p:cxnSp>
      <p:sp>
        <p:nvSpPr>
          <p:cNvPr id="171" name="Google Shape;171;p5"/>
          <p:cNvSpPr/>
          <p:nvPr/>
        </p:nvSpPr>
        <p:spPr>
          <a:xfrm>
            <a:off x="4197096" y="2514600"/>
            <a:ext cx="3246120" cy="2377440"/>
          </a:xfrm>
          <a:prstGeom prst="roundRect">
            <a:avLst>
              <a:gd fmla="val 5385" name="adj"/>
            </a:avLst>
          </a:prstGeom>
          <a:solidFill>
            <a:srgbClr val="FFFFF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5436108" y="2834640"/>
            <a:ext cx="768096" cy="768096"/>
          </a:xfrm>
          <a:prstGeom prst="ellipse">
            <a:avLst/>
          </a:prstGeom>
          <a:solidFill>
            <a:srgbClr val="1B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5436108" y="2834640"/>
            <a:ext cx="768096" cy="7680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2</a:t>
            </a:r>
            <a:endParaRPr b="0" i="0" sz="2600" u="none" cap="none" strike="noStrike">
              <a:solidFill>
                <a:schemeClr val="dk1"/>
              </a:solidFill>
              <a:latin typeface="Calibri"/>
              <a:ea typeface="Calibri"/>
              <a:cs typeface="Calibri"/>
              <a:sym typeface="Calibri"/>
            </a:endParaRPr>
          </a:p>
        </p:txBody>
      </p:sp>
      <p:sp>
        <p:nvSpPr>
          <p:cNvPr id="174" name="Google Shape;174;p5"/>
          <p:cNvSpPr/>
          <p:nvPr/>
        </p:nvSpPr>
        <p:spPr>
          <a:xfrm>
            <a:off x="4379976" y="3749040"/>
            <a:ext cx="2880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400"/>
              <a:buFont typeface="Calibri"/>
              <a:buNone/>
            </a:pPr>
            <a:r>
              <a:rPr b="1" i="0" lang="en-US" sz="1400" u="none" cap="none" strike="noStrike">
                <a:solidFill>
                  <a:srgbClr val="232741"/>
                </a:solidFill>
                <a:latin typeface="Calibri"/>
                <a:ea typeface="Calibri"/>
                <a:cs typeface="Calibri"/>
                <a:sym typeface="Calibri"/>
              </a:rPr>
              <a:t>STRUCTURE DE KRIPKE</a:t>
            </a:r>
            <a:endParaRPr b="0" i="0" sz="1400" u="none" cap="none" strike="noStrike">
              <a:solidFill>
                <a:schemeClr val="dk1"/>
              </a:solidFill>
              <a:latin typeface="Calibri"/>
              <a:ea typeface="Calibri"/>
              <a:cs typeface="Calibri"/>
              <a:sym typeface="Calibri"/>
            </a:endParaRPr>
          </a:p>
        </p:txBody>
      </p:sp>
      <p:sp>
        <p:nvSpPr>
          <p:cNvPr id="175" name="Google Shape;175;p5"/>
          <p:cNvSpPr/>
          <p:nvPr/>
        </p:nvSpPr>
        <p:spPr>
          <a:xfrm>
            <a:off x="4379976" y="4343400"/>
            <a:ext cx="2880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États + transitions</a:t>
            </a:r>
            <a:endParaRPr b="0" i="0" sz="1200" u="none" cap="none" strike="noStrike">
              <a:solidFill>
                <a:schemeClr val="dk1"/>
              </a:solidFill>
              <a:latin typeface="Calibri"/>
              <a:ea typeface="Calibri"/>
              <a:cs typeface="Calibri"/>
              <a:sym typeface="Calibri"/>
            </a:endParaRPr>
          </a:p>
        </p:txBody>
      </p:sp>
      <p:cxnSp>
        <p:nvCxnSpPr>
          <p:cNvPr id="176" name="Google Shape;176;p5"/>
          <p:cNvCxnSpPr/>
          <p:nvPr/>
        </p:nvCxnSpPr>
        <p:spPr>
          <a:xfrm>
            <a:off x="7479792" y="3703320"/>
            <a:ext cx="329184" cy="0"/>
          </a:xfrm>
          <a:prstGeom prst="straightConnector1">
            <a:avLst/>
          </a:prstGeom>
          <a:noFill/>
          <a:ln cap="flat" cmpd="sng" w="31750">
            <a:solidFill>
              <a:srgbClr val="1B2340"/>
            </a:solidFill>
            <a:prstDash val="solid"/>
            <a:round/>
            <a:headEnd len="sm" w="sm" type="none"/>
            <a:tailEnd len="med" w="med" type="triangle"/>
          </a:ln>
        </p:spPr>
      </p:cxnSp>
      <p:sp>
        <p:nvSpPr>
          <p:cNvPr id="177" name="Google Shape;177;p5"/>
          <p:cNvSpPr/>
          <p:nvPr/>
        </p:nvSpPr>
        <p:spPr>
          <a:xfrm>
            <a:off x="7845552" y="2514600"/>
            <a:ext cx="3246120" cy="2377440"/>
          </a:xfrm>
          <a:prstGeom prst="roundRect">
            <a:avLst>
              <a:gd fmla="val 5385" name="adj"/>
            </a:avLst>
          </a:prstGeom>
          <a:solidFill>
            <a:srgbClr val="FFFFF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9084564" y="2834640"/>
            <a:ext cx="768096" cy="768096"/>
          </a:xfrm>
          <a:prstGeom prst="ellipse">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9084564" y="2834640"/>
            <a:ext cx="768096" cy="7680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3</a:t>
            </a:r>
            <a:endParaRPr b="0" i="0" sz="2600" u="none" cap="none" strike="noStrike">
              <a:solidFill>
                <a:schemeClr val="dk1"/>
              </a:solidFill>
              <a:latin typeface="Calibri"/>
              <a:ea typeface="Calibri"/>
              <a:cs typeface="Calibri"/>
              <a:sym typeface="Calibri"/>
            </a:endParaRPr>
          </a:p>
        </p:txBody>
      </p:sp>
      <p:sp>
        <p:nvSpPr>
          <p:cNvPr id="180" name="Google Shape;180;p5"/>
          <p:cNvSpPr/>
          <p:nvPr/>
        </p:nvSpPr>
        <p:spPr>
          <a:xfrm>
            <a:off x="8028432" y="3749040"/>
            <a:ext cx="2880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400"/>
              <a:buFont typeface="Calibri"/>
              <a:buNone/>
            </a:pPr>
            <a:r>
              <a:rPr b="1" i="0" lang="en-US" sz="1400" u="none" cap="none" strike="noStrike">
                <a:solidFill>
                  <a:srgbClr val="232741"/>
                </a:solidFill>
                <a:latin typeface="Calibri"/>
                <a:ea typeface="Calibri"/>
                <a:cs typeface="Calibri"/>
                <a:sym typeface="Calibri"/>
              </a:rPr>
              <a:t>PREUVE OU CONTRE-EXEMPLE</a:t>
            </a:r>
            <a:endParaRPr b="0" i="0" sz="1400" u="none" cap="none" strike="noStrike">
              <a:solidFill>
                <a:schemeClr val="dk1"/>
              </a:solidFill>
              <a:latin typeface="Calibri"/>
              <a:ea typeface="Calibri"/>
              <a:cs typeface="Calibri"/>
              <a:sym typeface="Calibri"/>
            </a:endParaRPr>
          </a:p>
        </p:txBody>
      </p:sp>
      <p:sp>
        <p:nvSpPr>
          <p:cNvPr id="181" name="Google Shape;181;p5"/>
          <p:cNvSpPr/>
          <p:nvPr/>
        </p:nvSpPr>
        <p:spPr>
          <a:xfrm>
            <a:off x="8028432" y="4343400"/>
            <a:ext cx="2880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 exhaustif  /  ✗ trace</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548640" y="5257800"/>
            <a:ext cx="11064240" cy="960120"/>
          </a:xfrm>
          <a:prstGeom prst="roundRect">
            <a:avLst>
              <a:gd fmla="val 13333" name="adj"/>
            </a:avLst>
          </a:prstGeom>
          <a:solidFill>
            <a:srgbClr val="EEF0F5"/>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822960" y="53492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741"/>
              </a:buClr>
              <a:buSzPts val="1250"/>
              <a:buFont typeface="Calibri"/>
              <a:buNone/>
            </a:pPr>
            <a:r>
              <a:rPr b="0" i="0" lang="en-US" sz="1250" u="none" cap="none" strike="noStrike">
                <a:solidFill>
                  <a:srgbClr val="232741"/>
                </a:solidFill>
                <a:latin typeface="Calibri"/>
                <a:ea typeface="Calibri"/>
                <a:cs typeface="Calibri"/>
                <a:sym typeface="Calibri"/>
              </a:rPr>
              <a:t>CTL est un fragment de logique modale : « toujours », « un jour », « il existe un chemin où » — le solveur ne cherche pas un optimum, il démontre ou réfute.</a:t>
            </a:r>
            <a:endParaRPr b="0" i="0" sz="1250" u="none" cap="none" strike="noStrike">
              <a:solidFill>
                <a:schemeClr val="dk1"/>
              </a:solidFill>
              <a:latin typeface="Calibri"/>
              <a:ea typeface="Calibri"/>
              <a:cs typeface="Calibri"/>
              <a:sym typeface="Calibri"/>
            </a:endParaRPr>
          </a:p>
        </p:txBody>
      </p:sp>
      <p:sp>
        <p:nvSpPr>
          <p:cNvPr id="184" name="Google Shape;184;p5"/>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03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189" name="Shape 189"/>
        <p:cNvGrpSpPr/>
        <p:nvPr/>
      </p:nvGrpSpPr>
      <p:grpSpPr>
        <a:xfrm>
          <a:off x="0" y="0"/>
          <a:ext cx="0" cy="0"/>
          <a:chOff x="0" y="0"/>
          <a:chExt cx="0" cy="0"/>
        </a:xfrm>
      </p:grpSpPr>
      <p:sp>
        <p:nvSpPr>
          <p:cNvPr id="190" name="Google Shape;190;p6"/>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LE SYSTÈME MODÉLISÉ</a:t>
            </a:r>
            <a:endParaRPr b="0" i="0" sz="1200" u="none" cap="none" strike="noStrike">
              <a:solidFill>
                <a:schemeClr val="dk1"/>
              </a:solidFill>
              <a:latin typeface="Calibri"/>
              <a:ea typeface="Calibri"/>
              <a:cs typeface="Calibri"/>
              <a:sym typeface="Calibri"/>
            </a:endParaRPr>
          </a:p>
        </p:txBody>
      </p:sp>
      <p:sp>
        <p:nvSpPr>
          <p:cNvPr id="191" name="Google Shape;191;p6"/>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Le bot : stratégie et automate</a:t>
            </a:r>
            <a:endParaRPr b="0" i="0" sz="3000" u="none" cap="none" strike="noStrike">
              <a:solidFill>
                <a:schemeClr val="dk1"/>
              </a:solidFill>
              <a:latin typeface="Calibri"/>
              <a:ea typeface="Calibri"/>
              <a:cs typeface="Calibri"/>
              <a:sym typeface="Calibri"/>
            </a:endParaRPr>
          </a:p>
        </p:txBody>
      </p:sp>
      <p:sp>
        <p:nvSpPr>
          <p:cNvPr id="192" name="Google Shape;192;p6"/>
          <p:cNvSpPr/>
          <p:nvPr/>
        </p:nvSpPr>
        <p:spPr>
          <a:xfrm>
            <a:off x="548640" y="2926080"/>
            <a:ext cx="1554480" cy="777240"/>
          </a:xfrm>
          <a:prstGeom prst="roundRect">
            <a:avLst>
              <a:gd fmla="val 18824" name="adj"/>
            </a:avLst>
          </a:prstGeom>
          <a:solidFill>
            <a:srgbClr val="EEF0F5"/>
          </a:solidFill>
          <a:ln cap="flat" cmpd="sng" w="19050">
            <a:solidFill>
              <a:srgbClr val="1B2340"/>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548640" y="2926080"/>
            <a:ext cx="155448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flat</a:t>
            </a:r>
            <a:endParaRPr b="0" i="0" sz="1300" u="none" cap="none" strike="noStrike">
              <a:solidFill>
                <a:schemeClr val="dk1"/>
              </a:solidFill>
              <a:latin typeface="Calibri"/>
              <a:ea typeface="Calibri"/>
              <a:cs typeface="Calibri"/>
              <a:sym typeface="Calibri"/>
            </a:endParaRPr>
          </a:p>
        </p:txBody>
      </p:sp>
      <p:sp>
        <p:nvSpPr>
          <p:cNvPr id="194" name="Google Shape;194;p6"/>
          <p:cNvSpPr/>
          <p:nvPr/>
        </p:nvSpPr>
        <p:spPr>
          <a:xfrm>
            <a:off x="2788920" y="2148840"/>
            <a:ext cx="1737360" cy="777240"/>
          </a:xfrm>
          <a:prstGeom prst="roundRect">
            <a:avLst>
              <a:gd fmla="val 18824" name="adj"/>
            </a:avLst>
          </a:prstGeom>
          <a:solidFill>
            <a:srgbClr val="E7EBFB"/>
          </a:solidFill>
          <a:ln cap="flat" cmpd="sng" w="19050">
            <a:solidFill>
              <a:srgbClr val="4C5FD9"/>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2788920" y="2148840"/>
            <a:ext cx="173736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long</a:t>
            </a:r>
            <a:endParaRPr b="0" i="0" sz="1300" u="none" cap="none" strike="noStrike">
              <a:solidFill>
                <a:schemeClr val="dk1"/>
              </a:solidFill>
              <a:latin typeface="Calibri"/>
              <a:ea typeface="Calibri"/>
              <a:cs typeface="Calibri"/>
              <a:sym typeface="Calibri"/>
            </a:endParaRPr>
          </a:p>
        </p:txBody>
      </p:sp>
      <p:sp>
        <p:nvSpPr>
          <p:cNvPr id="196" name="Google Shape;196;p6"/>
          <p:cNvSpPr/>
          <p:nvPr/>
        </p:nvSpPr>
        <p:spPr>
          <a:xfrm>
            <a:off x="2788920" y="3703320"/>
            <a:ext cx="1737360" cy="777240"/>
          </a:xfrm>
          <a:prstGeom prst="roundRect">
            <a:avLst>
              <a:gd fmla="val 18824" name="adj"/>
            </a:avLst>
          </a:prstGeom>
          <a:solidFill>
            <a:srgbClr val="E7EBFB"/>
          </a:solidFill>
          <a:ln cap="flat" cmpd="sng" w="19050">
            <a:solidFill>
              <a:srgbClr val="4C5FD9"/>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2788920" y="3703320"/>
            <a:ext cx="173736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short</a:t>
            </a:r>
            <a:endParaRPr b="0" i="0" sz="1300" u="none" cap="none" strike="noStrike">
              <a:solidFill>
                <a:schemeClr val="dk1"/>
              </a:solidFill>
              <a:latin typeface="Calibri"/>
              <a:ea typeface="Calibri"/>
              <a:cs typeface="Calibri"/>
              <a:sym typeface="Calibri"/>
            </a:endParaRPr>
          </a:p>
        </p:txBody>
      </p:sp>
      <p:sp>
        <p:nvSpPr>
          <p:cNvPr id="198" name="Google Shape;198;p6"/>
          <p:cNvSpPr/>
          <p:nvPr/>
        </p:nvSpPr>
        <p:spPr>
          <a:xfrm>
            <a:off x="5349240" y="2148840"/>
            <a:ext cx="2148840" cy="777240"/>
          </a:xfrm>
          <a:prstGeom prst="roundRect">
            <a:avLst>
              <a:gd fmla="val 18824" name="adj"/>
            </a:avLst>
          </a:prstGeom>
          <a:solidFill>
            <a:srgbClr val="FDECEA"/>
          </a:solidFill>
          <a:ln cap="flat" cmpd="sng" w="19050">
            <a:solidFill>
              <a:srgbClr val="E15554"/>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5349240" y="2148840"/>
            <a:ext cx="214884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margin_warning</a:t>
            </a:r>
            <a:endParaRPr b="0" i="0" sz="1200" u="none" cap="none" strike="noStrike">
              <a:solidFill>
                <a:schemeClr val="dk1"/>
              </a:solidFill>
              <a:latin typeface="Calibri"/>
              <a:ea typeface="Calibri"/>
              <a:cs typeface="Calibri"/>
              <a:sym typeface="Calibri"/>
            </a:endParaRPr>
          </a:p>
        </p:txBody>
      </p:sp>
      <p:sp>
        <p:nvSpPr>
          <p:cNvPr id="200" name="Google Shape;200;p6"/>
          <p:cNvSpPr/>
          <p:nvPr/>
        </p:nvSpPr>
        <p:spPr>
          <a:xfrm>
            <a:off x="5349240" y="3703320"/>
            <a:ext cx="2148840" cy="777240"/>
          </a:xfrm>
          <a:prstGeom prst="roundRect">
            <a:avLst>
              <a:gd fmla="val 18824" name="adj"/>
            </a:avLst>
          </a:prstGeom>
          <a:solidFill>
            <a:srgbClr val="FDECEA"/>
          </a:solidFill>
          <a:ln cap="flat" cmpd="sng" w="19050">
            <a:solidFill>
              <a:srgbClr val="E15554"/>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349240" y="3703320"/>
            <a:ext cx="214884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halted</a:t>
            </a:r>
            <a:endParaRPr b="0" i="0" sz="1300" u="none" cap="none" strike="noStrike">
              <a:solidFill>
                <a:schemeClr val="dk1"/>
              </a:solidFill>
              <a:latin typeface="Calibri"/>
              <a:ea typeface="Calibri"/>
              <a:cs typeface="Calibri"/>
              <a:sym typeface="Calibri"/>
            </a:endParaRPr>
          </a:p>
        </p:txBody>
      </p:sp>
      <p:sp>
        <p:nvSpPr>
          <p:cNvPr id="202" name="Google Shape;202;p6"/>
          <p:cNvSpPr/>
          <p:nvPr/>
        </p:nvSpPr>
        <p:spPr>
          <a:xfrm>
            <a:off x="8366760" y="2926080"/>
            <a:ext cx="1737360" cy="777240"/>
          </a:xfrm>
          <a:prstGeom prst="roundRect">
            <a:avLst>
              <a:gd fmla="val 18824" name="adj"/>
            </a:avLst>
          </a:prstGeom>
          <a:solidFill>
            <a:srgbClr val="EAF7EF"/>
          </a:solidFill>
          <a:ln cap="flat" cmpd="sng" w="19050">
            <a:solidFill>
              <a:srgbClr val="2E9E64"/>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8366760" y="2926080"/>
            <a:ext cx="173736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flat</a:t>
            </a:r>
            <a:endParaRPr b="0" i="0" sz="1300" u="none" cap="none" strike="noStrike">
              <a:solidFill>
                <a:schemeClr val="dk1"/>
              </a:solidFill>
              <a:latin typeface="Calibri"/>
              <a:ea typeface="Calibri"/>
              <a:cs typeface="Calibri"/>
              <a:sym typeface="Calibri"/>
            </a:endParaRPr>
          </a:p>
        </p:txBody>
      </p:sp>
      <p:cxnSp>
        <p:nvCxnSpPr>
          <p:cNvPr id="204" name="Google Shape;204;p6"/>
          <p:cNvCxnSpPr>
            <a:stCxn id="193" idx="3"/>
          </p:cNvCxnSpPr>
          <p:nvPr/>
        </p:nvCxnSpPr>
        <p:spPr>
          <a:xfrm flipH="1" rot="10800000">
            <a:off x="2103120" y="2606100"/>
            <a:ext cx="685800" cy="708600"/>
          </a:xfrm>
          <a:prstGeom prst="straightConnector1">
            <a:avLst/>
          </a:prstGeom>
          <a:noFill/>
          <a:ln cap="flat" cmpd="sng" w="25400">
            <a:solidFill>
              <a:srgbClr val="1B2340"/>
            </a:solidFill>
            <a:prstDash val="solid"/>
            <a:round/>
            <a:headEnd len="sm" w="sm" type="none"/>
            <a:tailEnd len="med" w="med" type="triangle"/>
          </a:ln>
        </p:spPr>
      </p:cxnSp>
      <p:cxnSp>
        <p:nvCxnSpPr>
          <p:cNvPr id="205" name="Google Shape;205;p6"/>
          <p:cNvCxnSpPr>
            <a:stCxn id="193" idx="3"/>
          </p:cNvCxnSpPr>
          <p:nvPr/>
        </p:nvCxnSpPr>
        <p:spPr>
          <a:xfrm>
            <a:off x="2103120" y="3314700"/>
            <a:ext cx="685800" cy="663000"/>
          </a:xfrm>
          <a:prstGeom prst="straightConnector1">
            <a:avLst/>
          </a:prstGeom>
          <a:noFill/>
          <a:ln cap="flat" cmpd="sng" w="25400">
            <a:solidFill>
              <a:srgbClr val="1B2340"/>
            </a:solidFill>
            <a:prstDash val="solid"/>
            <a:round/>
            <a:headEnd len="sm" w="sm" type="none"/>
            <a:tailEnd len="med" w="med" type="triangle"/>
          </a:ln>
        </p:spPr>
      </p:cxnSp>
      <p:cxnSp>
        <p:nvCxnSpPr>
          <p:cNvPr id="206" name="Google Shape;206;p6"/>
          <p:cNvCxnSpPr/>
          <p:nvPr/>
        </p:nvCxnSpPr>
        <p:spPr>
          <a:xfrm>
            <a:off x="4526280" y="2542032"/>
            <a:ext cx="822960" cy="0"/>
          </a:xfrm>
          <a:prstGeom prst="straightConnector1">
            <a:avLst/>
          </a:prstGeom>
          <a:noFill/>
          <a:ln cap="flat" cmpd="sng" w="25400">
            <a:solidFill>
              <a:srgbClr val="E15554"/>
            </a:solidFill>
            <a:prstDash val="solid"/>
            <a:round/>
            <a:headEnd len="sm" w="sm" type="none"/>
            <a:tailEnd len="med" w="med" type="triangle"/>
          </a:ln>
        </p:spPr>
      </p:cxnSp>
      <p:cxnSp>
        <p:nvCxnSpPr>
          <p:cNvPr id="207" name="Google Shape;207;p6"/>
          <p:cNvCxnSpPr/>
          <p:nvPr/>
        </p:nvCxnSpPr>
        <p:spPr>
          <a:xfrm>
            <a:off x="4526280" y="4096512"/>
            <a:ext cx="822960" cy="0"/>
          </a:xfrm>
          <a:prstGeom prst="straightConnector1">
            <a:avLst/>
          </a:prstGeom>
          <a:noFill/>
          <a:ln cap="flat" cmpd="sng" w="25400">
            <a:solidFill>
              <a:srgbClr val="E15554"/>
            </a:solidFill>
            <a:prstDash val="solid"/>
            <a:round/>
            <a:headEnd len="sm" w="sm" type="none"/>
            <a:tailEnd len="med" w="med" type="triangle"/>
          </a:ln>
        </p:spPr>
      </p:cxnSp>
      <p:cxnSp>
        <p:nvCxnSpPr>
          <p:cNvPr id="208" name="Google Shape;208;p6"/>
          <p:cNvCxnSpPr>
            <a:endCxn id="203" idx="1"/>
          </p:cNvCxnSpPr>
          <p:nvPr/>
        </p:nvCxnSpPr>
        <p:spPr>
          <a:xfrm>
            <a:off x="7497960" y="2541900"/>
            <a:ext cx="868800" cy="772800"/>
          </a:xfrm>
          <a:prstGeom prst="straightConnector1">
            <a:avLst/>
          </a:prstGeom>
          <a:noFill/>
          <a:ln cap="flat" cmpd="sng" w="25400">
            <a:solidFill>
              <a:srgbClr val="2E9E64"/>
            </a:solidFill>
            <a:prstDash val="solid"/>
            <a:round/>
            <a:headEnd len="sm" w="sm" type="none"/>
            <a:tailEnd len="med" w="med" type="triangle"/>
          </a:ln>
        </p:spPr>
      </p:cxnSp>
      <p:cxnSp>
        <p:nvCxnSpPr>
          <p:cNvPr id="209" name="Google Shape;209;p6"/>
          <p:cNvCxnSpPr>
            <a:stCxn id="201" idx="3"/>
            <a:endCxn id="203" idx="1"/>
          </p:cNvCxnSpPr>
          <p:nvPr/>
        </p:nvCxnSpPr>
        <p:spPr>
          <a:xfrm flipH="1" rot="10800000">
            <a:off x="7498080" y="3314640"/>
            <a:ext cx="868800" cy="777300"/>
          </a:xfrm>
          <a:prstGeom prst="straightConnector1">
            <a:avLst/>
          </a:prstGeom>
          <a:noFill/>
          <a:ln cap="flat" cmpd="sng" w="25400">
            <a:solidFill>
              <a:srgbClr val="2E9E64"/>
            </a:solidFill>
            <a:prstDash val="solid"/>
            <a:round/>
            <a:headEnd len="sm" w="sm" type="none"/>
            <a:tailEnd len="med" w="med" type="triangle"/>
          </a:ln>
        </p:spPr>
      </p:cxnSp>
      <p:sp>
        <p:nvSpPr>
          <p:cNvPr id="210" name="Google Shape;210;p6"/>
          <p:cNvSpPr/>
          <p:nvPr/>
        </p:nvSpPr>
        <p:spPr>
          <a:xfrm>
            <a:off x="5349240" y="3017520"/>
            <a:ext cx="2148840" cy="365760"/>
          </a:xfrm>
          <a:prstGeom prst="roundRect">
            <a:avLst>
              <a:gd fmla="val 50000" name="adj"/>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5349240" y="3017520"/>
            <a:ext cx="2148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drawdown ∈ {0..3}</a:t>
            </a:r>
            <a:endParaRPr b="0" i="0" sz="1050" u="none" cap="none" strike="noStrike">
              <a:solidFill>
                <a:schemeClr val="dk1"/>
              </a:solidFill>
              <a:latin typeface="Calibri"/>
              <a:ea typeface="Calibri"/>
              <a:cs typeface="Calibri"/>
              <a:sym typeface="Calibri"/>
            </a:endParaRPr>
          </a:p>
        </p:txBody>
      </p:sp>
      <p:sp>
        <p:nvSpPr>
          <p:cNvPr id="212" name="Google Shape;212;p6"/>
          <p:cNvSpPr/>
          <p:nvPr/>
        </p:nvSpPr>
        <p:spPr>
          <a:xfrm>
            <a:off x="5349240" y="4572000"/>
            <a:ext cx="2148840" cy="365760"/>
          </a:xfrm>
          <a:prstGeom prst="roundRect">
            <a:avLst>
              <a:gd fmla="val 50000" name="adj"/>
            </a:avLst>
          </a:prstGeom>
          <a:solidFill>
            <a:srgbClr val="1B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5349240" y="4572000"/>
            <a:ext cx="2148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leverage ∈ {0,1,2}</a:t>
            </a:r>
            <a:endParaRPr b="0" i="0" sz="1050" u="none" cap="none" strike="noStrike">
              <a:solidFill>
                <a:schemeClr val="dk1"/>
              </a:solidFill>
              <a:latin typeface="Calibri"/>
              <a:ea typeface="Calibri"/>
              <a:cs typeface="Calibri"/>
              <a:sym typeface="Calibri"/>
            </a:endParaRPr>
          </a:p>
        </p:txBody>
      </p:sp>
      <p:sp>
        <p:nvSpPr>
          <p:cNvPr id="214" name="Google Shape;214;p6"/>
          <p:cNvSpPr/>
          <p:nvPr/>
        </p:nvSpPr>
        <p:spPr>
          <a:xfrm>
            <a:off x="2788920" y="3017520"/>
            <a:ext cx="1737360" cy="365760"/>
          </a:xfrm>
          <a:prstGeom prst="roundRect">
            <a:avLst>
              <a:gd fmla="val 50000" name="adj"/>
            </a:avLst>
          </a:prstGeom>
          <a:solidFill>
            <a:srgbClr val="4C5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2788920" y="3017520"/>
            <a:ext cx="17373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signal</a:t>
            </a:r>
            <a:endParaRPr b="0" i="0" sz="1050" u="none" cap="none" strike="noStrike">
              <a:solidFill>
                <a:schemeClr val="dk1"/>
              </a:solidFill>
              <a:latin typeface="Calibri"/>
              <a:ea typeface="Calibri"/>
              <a:cs typeface="Calibri"/>
              <a:sym typeface="Calibri"/>
            </a:endParaRPr>
          </a:p>
        </p:txBody>
      </p:sp>
      <p:sp>
        <p:nvSpPr>
          <p:cNvPr id="216" name="Google Shape;216;p6"/>
          <p:cNvSpPr/>
          <p:nvPr/>
        </p:nvSpPr>
        <p:spPr>
          <a:xfrm>
            <a:off x="8366760" y="3703320"/>
            <a:ext cx="1737360" cy="365760"/>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8366760" y="3703320"/>
            <a:ext cx="17373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profit</a:t>
            </a:r>
            <a:endParaRPr b="0" i="0" sz="1050" u="none" cap="none" strike="noStrike">
              <a:solidFill>
                <a:schemeClr val="dk1"/>
              </a:solidFill>
              <a:latin typeface="Calibri"/>
              <a:ea typeface="Calibri"/>
              <a:cs typeface="Calibri"/>
              <a:sym typeface="Calibri"/>
            </a:endParaRPr>
          </a:p>
        </p:txBody>
      </p:sp>
      <p:sp>
        <p:nvSpPr>
          <p:cNvPr id="218" name="Google Shape;218;p6"/>
          <p:cNvSpPr/>
          <p:nvPr/>
        </p:nvSpPr>
        <p:spPr>
          <a:xfrm>
            <a:off x="548640" y="5349240"/>
            <a:ext cx="11064240" cy="914400"/>
          </a:xfrm>
          <a:prstGeom prst="roundRect">
            <a:avLst>
              <a:gd fmla="val 14000" name="adj"/>
            </a:avLst>
          </a:prstGeom>
          <a:solidFill>
            <a:srgbClr val="FFFFF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822960" y="5440680"/>
            <a:ext cx="10515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00"/>
              <a:buFont typeface="Calibri"/>
              <a:buNone/>
            </a:pPr>
            <a:r>
              <a:rPr b="1" i="0" lang="en-US" sz="1300" u="none" cap="none" strike="noStrike">
                <a:solidFill>
                  <a:srgbClr val="1B2340"/>
                </a:solidFill>
                <a:latin typeface="Calibri"/>
                <a:ea typeface="Calibri"/>
                <a:cs typeface="Calibri"/>
                <a:sym typeface="Calibri"/>
              </a:rPr>
              <a:t>SPY  ·  </a:t>
            </a:r>
            <a:r>
              <a:rPr b="0" i="0" lang="en-US" sz="1300" u="none" cap="none" strike="noStrike">
                <a:solidFill>
                  <a:srgbClr val="232741"/>
                </a:solidFill>
                <a:latin typeface="Calibri"/>
                <a:ea typeface="Calibri"/>
                <a:cs typeface="Calibri"/>
                <a:sym typeface="Calibri"/>
              </a:rPr>
              <a:t>croisement SMA 20/50  ·  take-profit 10%  ·  circuit-breaker −8%     </a:t>
            </a:r>
            <a:r>
              <a:rPr b="1" i="0" lang="en-US" sz="1300" u="none" cap="none" strike="noStrike">
                <a:solidFill>
                  <a:srgbClr val="4C5FD9"/>
                </a:solidFill>
                <a:latin typeface="Calibri"/>
                <a:ea typeface="Calibri"/>
                <a:cs typeface="Calibri"/>
                <a:sym typeface="Calibri"/>
              </a:rPr>
              <a:t>190 états  ·  1 450 transitions</a:t>
            </a:r>
            <a:endParaRPr b="0" i="0" sz="1300" u="none" cap="none" strike="noStrike">
              <a:solidFill>
                <a:schemeClr val="dk1"/>
              </a:solidFill>
              <a:latin typeface="Calibri"/>
              <a:ea typeface="Calibri"/>
              <a:cs typeface="Calibri"/>
              <a:sym typeface="Calibri"/>
            </a:endParaRPr>
          </a:p>
        </p:txBody>
      </p:sp>
      <p:sp>
        <p:nvSpPr>
          <p:cNvPr id="220" name="Google Shape;220;p6"/>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04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25" name="Shape 225"/>
        <p:cNvGrpSpPr/>
        <p:nvPr/>
      </p:nvGrpSpPr>
      <p:grpSpPr>
        <a:xfrm>
          <a:off x="0" y="0"/>
          <a:ext cx="0" cy="0"/>
          <a:chOff x="0" y="0"/>
          <a:chExt cx="0" cy="0"/>
        </a:xfrm>
      </p:grpSpPr>
      <p:sp>
        <p:nvSpPr>
          <p:cNvPr id="226" name="Google Shape;226;p7"/>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RÉSULTATS</a:t>
            </a:r>
            <a:endParaRPr b="0" i="0" sz="1200" u="none" cap="none" strike="noStrike">
              <a:solidFill>
                <a:schemeClr val="dk1"/>
              </a:solidFill>
              <a:latin typeface="Calibri"/>
              <a:ea typeface="Calibri"/>
              <a:cs typeface="Calibri"/>
              <a:sym typeface="Calibri"/>
            </a:endParaRPr>
          </a:p>
        </p:txBody>
      </p:sp>
      <p:sp>
        <p:nvSpPr>
          <p:cNvPr id="227" name="Google Shape;227;p7"/>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Les propriétés CTL prouvées</a:t>
            </a:r>
            <a:endParaRPr b="0" i="0" sz="3000" u="none" cap="none" strike="noStrike">
              <a:solidFill>
                <a:schemeClr val="dk1"/>
              </a:solidFill>
              <a:latin typeface="Calibri"/>
              <a:ea typeface="Calibri"/>
              <a:cs typeface="Calibri"/>
              <a:sym typeface="Calibri"/>
            </a:endParaRPr>
          </a:p>
        </p:txBody>
      </p:sp>
      <p:sp>
        <p:nvSpPr>
          <p:cNvPr id="228" name="Google Shape;228;p7"/>
          <p:cNvSpPr/>
          <p:nvPr/>
        </p:nvSpPr>
        <p:spPr>
          <a:xfrm>
            <a:off x="548640" y="1600200"/>
            <a:ext cx="11064240" cy="457200"/>
          </a:xfrm>
          <a:prstGeom prst="roundRect">
            <a:avLst>
              <a:gd fmla="val 16000" name="adj"/>
            </a:avLst>
          </a:prstGeom>
          <a:solidFill>
            <a:srgbClr val="1B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548640" y="16002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Id</a:t>
            </a:r>
            <a:endParaRPr b="0" i="0" sz="1200" u="none" cap="none" strike="noStrike">
              <a:solidFill>
                <a:schemeClr val="dk1"/>
              </a:solidFill>
              <a:latin typeface="Calibri"/>
              <a:ea typeface="Calibri"/>
              <a:cs typeface="Calibri"/>
              <a:sym typeface="Calibri"/>
            </a:endParaRPr>
          </a:p>
        </p:txBody>
      </p:sp>
      <p:sp>
        <p:nvSpPr>
          <p:cNvPr id="230" name="Google Shape;230;p7"/>
          <p:cNvSpPr/>
          <p:nvPr/>
        </p:nvSpPr>
        <p:spPr>
          <a:xfrm>
            <a:off x="1371600" y="16002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Formule CTL</a:t>
            </a:r>
            <a:endParaRPr b="0" i="0" sz="1200" u="none" cap="none" strike="noStrike">
              <a:solidFill>
                <a:schemeClr val="dk1"/>
              </a:solidFill>
              <a:latin typeface="Calibri"/>
              <a:ea typeface="Calibri"/>
              <a:cs typeface="Calibri"/>
              <a:sym typeface="Calibri"/>
            </a:endParaRPr>
          </a:p>
        </p:txBody>
      </p:sp>
      <p:sp>
        <p:nvSpPr>
          <p:cNvPr id="231" name="Google Shape;231;p7"/>
          <p:cNvSpPr/>
          <p:nvPr/>
        </p:nvSpPr>
        <p:spPr>
          <a:xfrm>
            <a:off x="7406640" y="16002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Type</a:t>
            </a:r>
            <a:endParaRPr b="0" i="0" sz="1200" u="none" cap="none" strike="noStrike">
              <a:solidFill>
                <a:schemeClr val="dk1"/>
              </a:solidFill>
              <a:latin typeface="Calibri"/>
              <a:ea typeface="Calibri"/>
              <a:cs typeface="Calibri"/>
              <a:sym typeface="Calibri"/>
            </a:endParaRPr>
          </a:p>
        </p:txBody>
      </p:sp>
      <p:sp>
        <p:nvSpPr>
          <p:cNvPr id="232" name="Google Shape;232;p7"/>
          <p:cNvSpPr/>
          <p:nvPr/>
        </p:nvSpPr>
        <p:spPr>
          <a:xfrm>
            <a:off x="9692640" y="1600200"/>
            <a:ext cx="192024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Verdict</a:t>
            </a:r>
            <a:endParaRPr b="0" i="0" sz="1200" u="none" cap="none" strike="noStrike">
              <a:solidFill>
                <a:schemeClr val="dk1"/>
              </a:solidFill>
              <a:latin typeface="Calibri"/>
              <a:ea typeface="Calibri"/>
              <a:cs typeface="Calibri"/>
              <a:sym typeface="Calibri"/>
            </a:endParaRPr>
          </a:p>
        </p:txBody>
      </p:sp>
      <p:sp>
        <p:nvSpPr>
          <p:cNvPr id="233" name="Google Shape;233;p7"/>
          <p:cNvSpPr/>
          <p:nvPr/>
        </p:nvSpPr>
        <p:spPr>
          <a:xfrm>
            <a:off x="548640" y="2057400"/>
            <a:ext cx="11064240" cy="457200"/>
          </a:xfrm>
          <a:prstGeom prst="rect">
            <a:avLst/>
          </a:prstGeom>
          <a:solidFill>
            <a:srgbClr val="E7EB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548640" y="20574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P1</a:t>
            </a:r>
            <a:endParaRPr b="0" i="0" sz="1200" u="none" cap="none" strike="noStrike">
              <a:solidFill>
                <a:schemeClr val="dk1"/>
              </a:solidFill>
              <a:latin typeface="Calibri"/>
              <a:ea typeface="Calibri"/>
              <a:cs typeface="Calibri"/>
              <a:sym typeface="Calibri"/>
            </a:endParaRPr>
          </a:p>
        </p:txBody>
      </p:sp>
      <p:sp>
        <p:nvSpPr>
          <p:cNvPr id="235" name="Google Shape;235;p7"/>
          <p:cNvSpPr/>
          <p:nvPr/>
        </p:nvSpPr>
        <p:spPr>
          <a:xfrm>
            <a:off x="1371600" y="20574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!margin_call</a:t>
            </a:r>
            <a:endParaRPr b="0" i="0" sz="1200" u="none" cap="none" strike="noStrike">
              <a:solidFill>
                <a:schemeClr val="dk1"/>
              </a:solidFill>
              <a:latin typeface="Calibri"/>
              <a:ea typeface="Calibri"/>
              <a:cs typeface="Calibri"/>
              <a:sym typeface="Calibri"/>
            </a:endParaRPr>
          </a:p>
        </p:txBody>
      </p:sp>
      <p:sp>
        <p:nvSpPr>
          <p:cNvPr id="236" name="Google Shape;236;p7"/>
          <p:cNvSpPr/>
          <p:nvPr/>
        </p:nvSpPr>
        <p:spPr>
          <a:xfrm>
            <a:off x="7406640" y="20574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Sûreté</a:t>
            </a:r>
            <a:endParaRPr b="0" i="0" sz="1150" u="none" cap="none" strike="noStrike">
              <a:solidFill>
                <a:schemeClr val="dk1"/>
              </a:solidFill>
              <a:latin typeface="Calibri"/>
              <a:ea typeface="Calibri"/>
              <a:cs typeface="Calibri"/>
              <a:sym typeface="Calibri"/>
            </a:endParaRPr>
          </a:p>
        </p:txBody>
      </p:sp>
      <p:sp>
        <p:nvSpPr>
          <p:cNvPr id="237" name="Google Shape;237;p7"/>
          <p:cNvSpPr/>
          <p:nvPr/>
        </p:nvSpPr>
        <p:spPr>
          <a:xfrm>
            <a:off x="10012680" y="21396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10012680" y="21396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39" name="Google Shape;239;p7"/>
          <p:cNvSpPr/>
          <p:nvPr/>
        </p:nvSpPr>
        <p:spPr>
          <a:xfrm>
            <a:off x="548640" y="2514600"/>
            <a:ext cx="11064240" cy="457200"/>
          </a:xfrm>
          <a:prstGeom prst="rect">
            <a:avLst/>
          </a:prstGeom>
          <a:solidFill>
            <a:srgbClr val="F1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548640" y="25146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P2</a:t>
            </a:r>
            <a:endParaRPr b="0" i="0" sz="1200" u="none" cap="none" strike="noStrike">
              <a:solidFill>
                <a:schemeClr val="dk1"/>
              </a:solidFill>
              <a:latin typeface="Calibri"/>
              <a:ea typeface="Calibri"/>
              <a:cs typeface="Calibri"/>
              <a:sym typeface="Calibri"/>
            </a:endParaRPr>
          </a:p>
        </p:txBody>
      </p:sp>
      <p:sp>
        <p:nvSpPr>
          <p:cNvPr id="241" name="Google Shape;241;p7"/>
          <p:cNvSpPr/>
          <p:nvPr/>
        </p:nvSpPr>
        <p:spPr>
          <a:xfrm>
            <a:off x="1371600" y="25146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(leverage=2 → AF leverage&lt;2)</a:t>
            </a:r>
            <a:endParaRPr b="0" i="0" sz="1200" u="none" cap="none" strike="noStrike">
              <a:solidFill>
                <a:schemeClr val="dk1"/>
              </a:solidFill>
              <a:latin typeface="Calibri"/>
              <a:ea typeface="Calibri"/>
              <a:cs typeface="Calibri"/>
              <a:sym typeface="Calibri"/>
            </a:endParaRPr>
          </a:p>
        </p:txBody>
      </p:sp>
      <p:sp>
        <p:nvSpPr>
          <p:cNvPr id="242" name="Google Shape;242;p7"/>
          <p:cNvSpPr/>
          <p:nvPr/>
        </p:nvSpPr>
        <p:spPr>
          <a:xfrm>
            <a:off x="7406640" y="25146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Sûreté</a:t>
            </a:r>
            <a:endParaRPr b="0" i="0" sz="1150" u="none" cap="none" strike="noStrike">
              <a:solidFill>
                <a:schemeClr val="dk1"/>
              </a:solidFill>
              <a:latin typeface="Calibri"/>
              <a:ea typeface="Calibri"/>
              <a:cs typeface="Calibri"/>
              <a:sym typeface="Calibri"/>
            </a:endParaRPr>
          </a:p>
        </p:txBody>
      </p:sp>
      <p:sp>
        <p:nvSpPr>
          <p:cNvPr id="243" name="Google Shape;243;p7"/>
          <p:cNvSpPr/>
          <p:nvPr/>
        </p:nvSpPr>
        <p:spPr>
          <a:xfrm>
            <a:off x="10012680" y="25968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10012680" y="25968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45" name="Google Shape;245;p7"/>
          <p:cNvSpPr/>
          <p:nvPr/>
        </p:nvSpPr>
        <p:spPr>
          <a:xfrm>
            <a:off x="548640" y="2971800"/>
            <a:ext cx="1106424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548640" y="29718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P3</a:t>
            </a:r>
            <a:endParaRPr b="0" i="0" sz="1200" u="none" cap="none" strike="noStrike">
              <a:solidFill>
                <a:schemeClr val="dk1"/>
              </a:solidFill>
              <a:latin typeface="Calibri"/>
              <a:ea typeface="Calibri"/>
              <a:cs typeface="Calibri"/>
              <a:sym typeface="Calibri"/>
            </a:endParaRPr>
          </a:p>
        </p:txBody>
      </p:sp>
      <p:sp>
        <p:nvSpPr>
          <p:cNvPr id="247" name="Google Shape;247;p7"/>
          <p:cNvSpPr/>
          <p:nvPr/>
        </p:nvSpPr>
        <p:spPr>
          <a:xfrm>
            <a:off x="1371600" y="29718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(drawdown=3 → AX halted)</a:t>
            </a:r>
            <a:endParaRPr b="0" i="0" sz="1200" u="none" cap="none" strike="noStrike">
              <a:solidFill>
                <a:schemeClr val="dk1"/>
              </a:solidFill>
              <a:latin typeface="Calibri"/>
              <a:ea typeface="Calibri"/>
              <a:cs typeface="Calibri"/>
              <a:sym typeface="Calibri"/>
            </a:endParaRPr>
          </a:p>
        </p:txBody>
      </p:sp>
      <p:sp>
        <p:nvSpPr>
          <p:cNvPr id="248" name="Google Shape;248;p7"/>
          <p:cNvSpPr/>
          <p:nvPr/>
        </p:nvSpPr>
        <p:spPr>
          <a:xfrm>
            <a:off x="7406640" y="29718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Sûreté</a:t>
            </a:r>
            <a:endParaRPr b="0" i="0" sz="1150" u="none" cap="none" strike="noStrike">
              <a:solidFill>
                <a:schemeClr val="dk1"/>
              </a:solidFill>
              <a:latin typeface="Calibri"/>
              <a:ea typeface="Calibri"/>
              <a:cs typeface="Calibri"/>
              <a:sym typeface="Calibri"/>
            </a:endParaRPr>
          </a:p>
        </p:txBody>
      </p:sp>
      <p:sp>
        <p:nvSpPr>
          <p:cNvPr id="249" name="Google Shape;249;p7"/>
          <p:cNvSpPr/>
          <p:nvPr/>
        </p:nvSpPr>
        <p:spPr>
          <a:xfrm>
            <a:off x="10012680" y="30540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10012680" y="30540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51" name="Google Shape;251;p7"/>
          <p:cNvSpPr/>
          <p:nvPr/>
        </p:nvSpPr>
        <p:spPr>
          <a:xfrm>
            <a:off x="548640" y="3429000"/>
            <a:ext cx="11064240" cy="457200"/>
          </a:xfrm>
          <a:prstGeom prst="rect">
            <a:avLst/>
          </a:prstGeom>
          <a:solidFill>
            <a:srgbClr val="F1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548640" y="34290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P4</a:t>
            </a:r>
            <a:endParaRPr b="0" i="0" sz="1200" u="none" cap="none" strike="noStrike">
              <a:solidFill>
                <a:schemeClr val="dk1"/>
              </a:solidFill>
              <a:latin typeface="Calibri"/>
              <a:ea typeface="Calibri"/>
              <a:cs typeface="Calibri"/>
              <a:sym typeface="Calibri"/>
            </a:endParaRPr>
          </a:p>
        </p:txBody>
      </p:sp>
      <p:sp>
        <p:nvSpPr>
          <p:cNvPr id="253" name="Google Shape;253;p7"/>
          <p:cNvSpPr/>
          <p:nvPr/>
        </p:nvSpPr>
        <p:spPr>
          <a:xfrm>
            <a:off x="1371600" y="34290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(halted → AF flat)</a:t>
            </a:r>
            <a:endParaRPr b="0" i="0" sz="1200" u="none" cap="none" strike="noStrike">
              <a:solidFill>
                <a:schemeClr val="dk1"/>
              </a:solidFill>
              <a:latin typeface="Calibri"/>
              <a:ea typeface="Calibri"/>
              <a:cs typeface="Calibri"/>
              <a:sym typeface="Calibri"/>
            </a:endParaRPr>
          </a:p>
        </p:txBody>
      </p:sp>
      <p:sp>
        <p:nvSpPr>
          <p:cNvPr id="254" name="Google Shape;254;p7"/>
          <p:cNvSpPr/>
          <p:nvPr/>
        </p:nvSpPr>
        <p:spPr>
          <a:xfrm>
            <a:off x="7406640" y="34290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Vivacité</a:t>
            </a:r>
            <a:endParaRPr b="0" i="0" sz="1150" u="none" cap="none" strike="noStrike">
              <a:solidFill>
                <a:schemeClr val="dk1"/>
              </a:solidFill>
              <a:latin typeface="Calibri"/>
              <a:ea typeface="Calibri"/>
              <a:cs typeface="Calibri"/>
              <a:sym typeface="Calibri"/>
            </a:endParaRPr>
          </a:p>
        </p:txBody>
      </p:sp>
      <p:sp>
        <p:nvSpPr>
          <p:cNvPr id="255" name="Google Shape;255;p7"/>
          <p:cNvSpPr/>
          <p:nvPr/>
        </p:nvSpPr>
        <p:spPr>
          <a:xfrm>
            <a:off x="10012680" y="35112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10012680" y="35112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57" name="Google Shape;257;p7"/>
          <p:cNvSpPr/>
          <p:nvPr/>
        </p:nvSpPr>
        <p:spPr>
          <a:xfrm>
            <a:off x="548640" y="3886200"/>
            <a:ext cx="1106424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548640" y="38862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P5</a:t>
            </a:r>
            <a:endParaRPr b="0" i="0" sz="1200" u="none" cap="none" strike="noStrike">
              <a:solidFill>
                <a:schemeClr val="dk1"/>
              </a:solidFill>
              <a:latin typeface="Calibri"/>
              <a:ea typeface="Calibri"/>
              <a:cs typeface="Calibri"/>
              <a:sym typeface="Calibri"/>
            </a:endParaRPr>
          </a:p>
        </p:txBody>
      </p:sp>
      <p:sp>
        <p:nvSpPr>
          <p:cNvPr id="259" name="Google Shape;259;p7"/>
          <p:cNvSpPr/>
          <p:nvPr/>
        </p:nvSpPr>
        <p:spPr>
          <a:xfrm>
            <a:off x="1371600" y="38862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(margin_warning → AF flat)</a:t>
            </a:r>
            <a:endParaRPr b="0" i="0" sz="1200" u="none" cap="none" strike="noStrike">
              <a:solidFill>
                <a:schemeClr val="dk1"/>
              </a:solidFill>
              <a:latin typeface="Calibri"/>
              <a:ea typeface="Calibri"/>
              <a:cs typeface="Calibri"/>
              <a:sym typeface="Calibri"/>
            </a:endParaRPr>
          </a:p>
        </p:txBody>
      </p:sp>
      <p:sp>
        <p:nvSpPr>
          <p:cNvPr id="260" name="Google Shape;260;p7"/>
          <p:cNvSpPr/>
          <p:nvPr/>
        </p:nvSpPr>
        <p:spPr>
          <a:xfrm>
            <a:off x="7406640" y="38862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Vivacité</a:t>
            </a:r>
            <a:endParaRPr b="0" i="0" sz="1150" u="none" cap="none" strike="noStrike">
              <a:solidFill>
                <a:schemeClr val="dk1"/>
              </a:solidFill>
              <a:latin typeface="Calibri"/>
              <a:ea typeface="Calibri"/>
              <a:cs typeface="Calibri"/>
              <a:sym typeface="Calibri"/>
            </a:endParaRPr>
          </a:p>
        </p:txBody>
      </p:sp>
      <p:sp>
        <p:nvSpPr>
          <p:cNvPr id="261" name="Google Shape;261;p7"/>
          <p:cNvSpPr/>
          <p:nvPr/>
        </p:nvSpPr>
        <p:spPr>
          <a:xfrm>
            <a:off x="10012680" y="39684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10012680" y="39684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63" name="Google Shape;263;p7"/>
          <p:cNvSpPr/>
          <p:nvPr/>
        </p:nvSpPr>
        <p:spPr>
          <a:xfrm>
            <a:off x="548640" y="4343400"/>
            <a:ext cx="11064240" cy="457200"/>
          </a:xfrm>
          <a:prstGeom prst="rect">
            <a:avLst/>
          </a:prstGeom>
          <a:solidFill>
            <a:srgbClr val="F1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548640" y="43434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P6</a:t>
            </a:r>
            <a:endParaRPr b="0" i="0" sz="1200" u="none" cap="none" strike="noStrike">
              <a:solidFill>
                <a:schemeClr val="dk1"/>
              </a:solidFill>
              <a:latin typeface="Calibri"/>
              <a:ea typeface="Calibri"/>
              <a:cs typeface="Calibri"/>
              <a:sym typeface="Calibri"/>
            </a:endParaRPr>
          </a:p>
        </p:txBody>
      </p:sp>
      <p:sp>
        <p:nvSpPr>
          <p:cNvPr id="265" name="Google Shape;265;p7"/>
          <p:cNvSpPr/>
          <p:nvPr/>
        </p:nvSpPr>
        <p:spPr>
          <a:xfrm>
            <a:off x="1371600" y="43434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EF flat</a:t>
            </a:r>
            <a:endParaRPr b="0" i="0" sz="1200" u="none" cap="none" strike="noStrike">
              <a:solidFill>
                <a:schemeClr val="dk1"/>
              </a:solidFill>
              <a:latin typeface="Calibri"/>
              <a:ea typeface="Calibri"/>
              <a:cs typeface="Calibri"/>
              <a:sym typeface="Calibri"/>
            </a:endParaRPr>
          </a:p>
        </p:txBody>
      </p:sp>
      <p:sp>
        <p:nvSpPr>
          <p:cNvPr id="266" name="Google Shape;266;p7"/>
          <p:cNvSpPr/>
          <p:nvPr/>
        </p:nvSpPr>
        <p:spPr>
          <a:xfrm>
            <a:off x="7406640" y="43434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Atteignabilité</a:t>
            </a:r>
            <a:endParaRPr b="0" i="0" sz="1150" u="none" cap="none" strike="noStrike">
              <a:solidFill>
                <a:schemeClr val="dk1"/>
              </a:solidFill>
              <a:latin typeface="Calibri"/>
              <a:ea typeface="Calibri"/>
              <a:cs typeface="Calibri"/>
              <a:sym typeface="Calibri"/>
            </a:endParaRPr>
          </a:p>
        </p:txBody>
      </p:sp>
      <p:sp>
        <p:nvSpPr>
          <p:cNvPr id="267" name="Google Shape;267;p7"/>
          <p:cNvSpPr/>
          <p:nvPr/>
        </p:nvSpPr>
        <p:spPr>
          <a:xfrm>
            <a:off x="10012680" y="44256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10012680" y="44256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69" name="Google Shape;269;p7"/>
          <p:cNvSpPr/>
          <p:nvPr/>
        </p:nvSpPr>
        <p:spPr>
          <a:xfrm>
            <a:off x="548640" y="4800600"/>
            <a:ext cx="1106424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548640" y="48006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P7</a:t>
            </a:r>
            <a:endParaRPr b="0" i="0" sz="1200" u="none" cap="none" strike="noStrike">
              <a:solidFill>
                <a:schemeClr val="dk1"/>
              </a:solidFill>
              <a:latin typeface="Calibri"/>
              <a:ea typeface="Calibri"/>
              <a:cs typeface="Calibri"/>
              <a:sym typeface="Calibri"/>
            </a:endParaRPr>
          </a:p>
        </p:txBody>
      </p:sp>
      <p:sp>
        <p:nvSpPr>
          <p:cNvPr id="271" name="Google Shape;271;p7"/>
          <p:cNvSpPr/>
          <p:nvPr/>
        </p:nvSpPr>
        <p:spPr>
          <a:xfrm>
            <a:off x="1371600" y="48006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EF profit_target</a:t>
            </a:r>
            <a:endParaRPr b="0" i="0" sz="1200" u="none" cap="none" strike="noStrike">
              <a:solidFill>
                <a:schemeClr val="dk1"/>
              </a:solidFill>
              <a:latin typeface="Calibri"/>
              <a:ea typeface="Calibri"/>
              <a:cs typeface="Calibri"/>
              <a:sym typeface="Calibri"/>
            </a:endParaRPr>
          </a:p>
        </p:txBody>
      </p:sp>
      <p:sp>
        <p:nvSpPr>
          <p:cNvPr id="272" name="Google Shape;272;p7"/>
          <p:cNvSpPr/>
          <p:nvPr/>
        </p:nvSpPr>
        <p:spPr>
          <a:xfrm>
            <a:off x="7406640" y="48006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Atteignabilité</a:t>
            </a:r>
            <a:endParaRPr b="0" i="0" sz="1150" u="none" cap="none" strike="noStrike">
              <a:solidFill>
                <a:schemeClr val="dk1"/>
              </a:solidFill>
              <a:latin typeface="Calibri"/>
              <a:ea typeface="Calibri"/>
              <a:cs typeface="Calibri"/>
              <a:sym typeface="Calibri"/>
            </a:endParaRPr>
          </a:p>
        </p:txBody>
      </p:sp>
      <p:sp>
        <p:nvSpPr>
          <p:cNvPr id="273" name="Google Shape;273;p7"/>
          <p:cNvSpPr/>
          <p:nvPr/>
        </p:nvSpPr>
        <p:spPr>
          <a:xfrm>
            <a:off x="10012680" y="48828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10012680" y="48828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75" name="Google Shape;275;p7"/>
          <p:cNvSpPr/>
          <p:nvPr/>
        </p:nvSpPr>
        <p:spPr>
          <a:xfrm>
            <a:off x="548640" y="5257800"/>
            <a:ext cx="11064240" cy="457200"/>
          </a:xfrm>
          <a:prstGeom prst="rect">
            <a:avLst/>
          </a:prstGeom>
          <a:solidFill>
            <a:srgbClr val="F1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48640" y="5257800"/>
            <a:ext cx="82296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232741"/>
              </a:buClr>
              <a:buSzPts val="1200"/>
              <a:buFont typeface="Calibri"/>
              <a:buNone/>
            </a:pPr>
            <a:r>
              <a:rPr b="1" i="0" lang="en-US" sz="1200" u="none" cap="none" strike="noStrike">
                <a:solidFill>
                  <a:srgbClr val="232741"/>
                </a:solidFill>
                <a:latin typeface="Calibri"/>
                <a:ea typeface="Calibri"/>
                <a:cs typeface="Calibri"/>
                <a:sym typeface="Calibri"/>
              </a:rPr>
              <a:t>P8</a:t>
            </a:r>
            <a:endParaRPr b="0" i="0" sz="1200" u="none" cap="none" strike="noStrike">
              <a:solidFill>
                <a:schemeClr val="dk1"/>
              </a:solidFill>
              <a:latin typeface="Calibri"/>
              <a:ea typeface="Calibri"/>
              <a:cs typeface="Calibri"/>
              <a:sym typeface="Calibri"/>
            </a:endParaRPr>
          </a:p>
        </p:txBody>
      </p:sp>
      <p:sp>
        <p:nvSpPr>
          <p:cNvPr id="277" name="Google Shape;277;p7"/>
          <p:cNvSpPr/>
          <p:nvPr/>
        </p:nvSpPr>
        <p:spPr>
          <a:xfrm>
            <a:off x="1371600" y="5257800"/>
            <a:ext cx="6035040" cy="457200"/>
          </a:xfrm>
          <a:prstGeom prst="rect">
            <a:avLst/>
          </a:prstGeom>
          <a:noFill/>
          <a:ln>
            <a:noFill/>
          </a:ln>
        </p:spPr>
        <p:txBody>
          <a:bodyPr anchorCtr="0" anchor="ctr" bIns="137150" lIns="137150" spcFirstLastPara="1" rIns="137150" wrap="square" tIns="137150">
            <a:noAutofit/>
          </a:bodyPr>
          <a:lstStyle/>
          <a:p>
            <a:pPr indent="0" lvl="0" marL="0" marR="0" rtl="0" algn="l">
              <a:spcBef>
                <a:spcPts val="0"/>
              </a:spcBef>
              <a:spcAft>
                <a:spcPts val="0"/>
              </a:spcAft>
              <a:buClr>
                <a:srgbClr val="232741"/>
              </a:buClr>
              <a:buSzPts val="1200"/>
              <a:buFont typeface="Courier New"/>
              <a:buNone/>
            </a:pPr>
            <a:r>
              <a:rPr b="0" i="0" lang="en-US" sz="1200" u="none" cap="none" strike="noStrike">
                <a:solidFill>
                  <a:srgbClr val="232741"/>
                </a:solidFill>
                <a:latin typeface="Courier New"/>
                <a:ea typeface="Courier New"/>
                <a:cs typeface="Courier New"/>
                <a:sym typeface="Courier New"/>
              </a:rPr>
              <a:t>AG (flat → !EX margin_call)</a:t>
            </a:r>
            <a:endParaRPr b="0" i="0" sz="1200" u="none" cap="none" strike="noStrike">
              <a:solidFill>
                <a:schemeClr val="dk1"/>
              </a:solidFill>
              <a:latin typeface="Calibri"/>
              <a:ea typeface="Calibri"/>
              <a:cs typeface="Calibri"/>
              <a:sym typeface="Calibri"/>
            </a:endParaRPr>
          </a:p>
        </p:txBody>
      </p:sp>
      <p:sp>
        <p:nvSpPr>
          <p:cNvPr id="278" name="Google Shape;278;p7"/>
          <p:cNvSpPr/>
          <p:nvPr/>
        </p:nvSpPr>
        <p:spPr>
          <a:xfrm>
            <a:off x="7406640" y="5257800"/>
            <a:ext cx="2286000" cy="457200"/>
          </a:xfrm>
          <a:prstGeom prst="rect">
            <a:avLst/>
          </a:prstGeom>
          <a:noFill/>
          <a:ln>
            <a:noFill/>
          </a:ln>
        </p:spPr>
        <p:txBody>
          <a:bodyPr anchorCtr="0" anchor="ctr" bIns="137150" lIns="137150" spcFirstLastPara="1" rIns="137150" wrap="square" tIns="137150">
            <a:noAutofit/>
          </a:bodyPr>
          <a:lstStyle/>
          <a:p>
            <a:pPr indent="0" lvl="0" marL="0" marR="0" rtl="0" algn="ctr">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Sûreté</a:t>
            </a:r>
            <a:endParaRPr b="0" i="0" sz="1150" u="none" cap="none" strike="noStrike">
              <a:solidFill>
                <a:schemeClr val="dk1"/>
              </a:solidFill>
              <a:latin typeface="Calibri"/>
              <a:ea typeface="Calibri"/>
              <a:cs typeface="Calibri"/>
              <a:sym typeface="Calibri"/>
            </a:endParaRPr>
          </a:p>
        </p:txBody>
      </p:sp>
      <p:sp>
        <p:nvSpPr>
          <p:cNvPr id="279" name="Google Shape;279;p7"/>
          <p:cNvSpPr/>
          <p:nvPr/>
        </p:nvSpPr>
        <p:spPr>
          <a:xfrm>
            <a:off x="10012680" y="5340096"/>
            <a:ext cx="1280160" cy="292608"/>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10012680" y="5340096"/>
            <a:ext cx="12801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vrai</a:t>
            </a:r>
            <a:endParaRPr b="0" i="0" sz="1100" u="none" cap="none" strike="noStrike">
              <a:solidFill>
                <a:schemeClr val="dk1"/>
              </a:solidFill>
              <a:latin typeface="Calibri"/>
              <a:ea typeface="Calibri"/>
              <a:cs typeface="Calibri"/>
              <a:sym typeface="Calibri"/>
            </a:endParaRPr>
          </a:p>
        </p:txBody>
      </p:sp>
      <p:sp>
        <p:nvSpPr>
          <p:cNvPr id="281" name="Google Shape;281;p7"/>
          <p:cNvSpPr/>
          <p:nvPr/>
        </p:nvSpPr>
        <p:spPr>
          <a:xfrm>
            <a:off x="548640" y="5897880"/>
            <a:ext cx="11064240" cy="685800"/>
          </a:xfrm>
          <a:prstGeom prst="roundRect">
            <a:avLst>
              <a:gd fmla="val 18667" name="adj"/>
            </a:avLst>
          </a:prstGeom>
          <a:solidFill>
            <a:srgbClr val="EEF0F5"/>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822960" y="5897880"/>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Calibri"/>
              <a:buNone/>
            </a:pPr>
            <a:r>
              <a:rPr b="0" i="1" lang="en-US" sz="1200" u="none" cap="none" strike="noStrike">
                <a:solidFill>
                  <a:srgbClr val="6B7280"/>
                </a:solidFill>
                <a:latin typeface="Calibri"/>
                <a:ea typeface="Calibri"/>
                <a:cs typeface="Calibri"/>
                <a:sym typeface="Calibri"/>
              </a:rPr>
              <a:t>AG = pour tout chemin, toujours   ·   AF = pour tout chemin, un jour   ·   EF = il existe un chemin où, un jour</a:t>
            </a:r>
            <a:endParaRPr b="0" i="0" sz="1200" u="none" cap="none" strike="noStrike">
              <a:solidFill>
                <a:schemeClr val="dk1"/>
              </a:solidFill>
              <a:latin typeface="Calibri"/>
              <a:ea typeface="Calibri"/>
              <a:cs typeface="Calibri"/>
              <a:sym typeface="Calibri"/>
            </a:endParaRPr>
          </a:p>
        </p:txBody>
      </p:sp>
      <p:sp>
        <p:nvSpPr>
          <p:cNvPr id="283" name="Google Shape;283;p7"/>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05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88" name="Shape 288"/>
        <p:cNvGrpSpPr/>
        <p:nvPr/>
      </p:nvGrpSpPr>
      <p:grpSpPr>
        <a:xfrm>
          <a:off x="0" y="0"/>
          <a:ext cx="0" cy="0"/>
          <a:chOff x="0" y="0"/>
          <a:chExt cx="0" cy="0"/>
        </a:xfrm>
      </p:grpSpPr>
      <p:sp>
        <p:nvSpPr>
          <p:cNvPr id="289" name="Google Shape;289;p8"/>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POUVOIR DISCRIMINANT</a:t>
            </a:r>
            <a:endParaRPr b="0" i="0" sz="1200" u="none" cap="none" strike="noStrike">
              <a:solidFill>
                <a:schemeClr val="dk1"/>
              </a:solidFill>
              <a:latin typeface="Calibri"/>
              <a:ea typeface="Calibri"/>
              <a:cs typeface="Calibri"/>
              <a:sym typeface="Calibri"/>
            </a:endParaRPr>
          </a:p>
        </p:txBody>
      </p:sp>
      <p:sp>
        <p:nvSpPr>
          <p:cNvPr id="290" name="Google Shape;290;p8"/>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Le modèle fautif</a:t>
            </a:r>
            <a:endParaRPr b="0" i="0" sz="3000" u="none" cap="none" strike="noStrike">
              <a:solidFill>
                <a:schemeClr val="dk1"/>
              </a:solidFill>
              <a:latin typeface="Calibri"/>
              <a:ea typeface="Calibri"/>
              <a:cs typeface="Calibri"/>
              <a:sym typeface="Calibri"/>
            </a:endParaRPr>
          </a:p>
        </p:txBody>
      </p:sp>
      <p:sp>
        <p:nvSpPr>
          <p:cNvPr id="291" name="Google Shape;291;p8"/>
          <p:cNvSpPr/>
          <p:nvPr/>
        </p:nvSpPr>
        <p:spPr>
          <a:xfrm>
            <a:off x="548640" y="1600200"/>
            <a:ext cx="5212080" cy="1691640"/>
          </a:xfrm>
          <a:prstGeom prst="roundRect">
            <a:avLst>
              <a:gd fmla="val 7568" name="adj"/>
            </a:avLst>
          </a:prstGeom>
          <a:solidFill>
            <a:srgbClr val="EAF7E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822960" y="178308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9E64"/>
              </a:buClr>
              <a:buSzPts val="1300"/>
              <a:buFont typeface="Calibri"/>
              <a:buNone/>
            </a:pPr>
            <a:r>
              <a:rPr b="1" i="0" lang="en-US" sz="1300" u="none" cap="none" strike="noStrike">
                <a:solidFill>
                  <a:srgbClr val="2E9E64"/>
                </a:solidFill>
                <a:latin typeface="Calibri"/>
                <a:ea typeface="Calibri"/>
                <a:cs typeface="Calibri"/>
                <a:sym typeface="Calibri"/>
              </a:rPr>
              <a:t>MODÈLE CERTIFIÉ</a:t>
            </a:r>
            <a:endParaRPr b="0" i="0" sz="1300" u="none" cap="none" strike="noStrike">
              <a:solidFill>
                <a:schemeClr val="dk1"/>
              </a:solidFill>
              <a:latin typeface="Calibri"/>
              <a:ea typeface="Calibri"/>
              <a:cs typeface="Calibri"/>
              <a:sym typeface="Calibri"/>
            </a:endParaRPr>
          </a:p>
        </p:txBody>
      </p:sp>
      <p:sp>
        <p:nvSpPr>
          <p:cNvPr id="293" name="Google Shape;293;p8"/>
          <p:cNvSpPr/>
          <p:nvPr/>
        </p:nvSpPr>
        <p:spPr>
          <a:xfrm>
            <a:off x="822960" y="2468880"/>
            <a:ext cx="1097280" cy="457200"/>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82296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P1 ✓</a:t>
            </a:r>
            <a:endParaRPr b="0" i="0" sz="1200" u="none" cap="none" strike="noStrike">
              <a:solidFill>
                <a:schemeClr val="dk1"/>
              </a:solidFill>
              <a:latin typeface="Calibri"/>
              <a:ea typeface="Calibri"/>
              <a:cs typeface="Calibri"/>
              <a:sym typeface="Calibri"/>
            </a:endParaRPr>
          </a:p>
        </p:txBody>
      </p:sp>
      <p:sp>
        <p:nvSpPr>
          <p:cNvPr id="295" name="Google Shape;295;p8"/>
          <p:cNvSpPr/>
          <p:nvPr/>
        </p:nvSpPr>
        <p:spPr>
          <a:xfrm>
            <a:off x="2057400" y="2468880"/>
            <a:ext cx="1097280" cy="457200"/>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205740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P3 ✓</a:t>
            </a:r>
            <a:endParaRPr b="0" i="0" sz="1200" u="none" cap="none" strike="noStrike">
              <a:solidFill>
                <a:schemeClr val="dk1"/>
              </a:solidFill>
              <a:latin typeface="Calibri"/>
              <a:ea typeface="Calibri"/>
              <a:cs typeface="Calibri"/>
              <a:sym typeface="Calibri"/>
            </a:endParaRPr>
          </a:p>
        </p:txBody>
      </p:sp>
      <p:sp>
        <p:nvSpPr>
          <p:cNvPr id="297" name="Google Shape;297;p8"/>
          <p:cNvSpPr/>
          <p:nvPr/>
        </p:nvSpPr>
        <p:spPr>
          <a:xfrm>
            <a:off x="3291840" y="2468880"/>
            <a:ext cx="1097280" cy="457200"/>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329184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P8 ✓</a:t>
            </a:r>
            <a:endParaRPr b="0" i="0" sz="1200" u="none" cap="none" strike="noStrike">
              <a:solidFill>
                <a:schemeClr val="dk1"/>
              </a:solidFill>
              <a:latin typeface="Calibri"/>
              <a:ea typeface="Calibri"/>
              <a:cs typeface="Calibri"/>
              <a:sym typeface="Calibri"/>
            </a:endParaRPr>
          </a:p>
        </p:txBody>
      </p:sp>
      <p:sp>
        <p:nvSpPr>
          <p:cNvPr id="299" name="Google Shape;299;p8"/>
          <p:cNvSpPr/>
          <p:nvPr/>
        </p:nvSpPr>
        <p:spPr>
          <a:xfrm>
            <a:off x="4526280" y="2468880"/>
            <a:ext cx="1097280" cy="457200"/>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452628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8 / 8 OK</a:t>
            </a:r>
            <a:endParaRPr b="0" i="0" sz="1200" u="none" cap="none" strike="noStrike">
              <a:solidFill>
                <a:schemeClr val="dk1"/>
              </a:solidFill>
              <a:latin typeface="Calibri"/>
              <a:ea typeface="Calibri"/>
              <a:cs typeface="Calibri"/>
              <a:sym typeface="Calibri"/>
            </a:endParaRPr>
          </a:p>
        </p:txBody>
      </p:sp>
      <p:sp>
        <p:nvSpPr>
          <p:cNvPr id="301" name="Google Shape;301;p8"/>
          <p:cNvSpPr/>
          <p:nvPr/>
        </p:nvSpPr>
        <p:spPr>
          <a:xfrm>
            <a:off x="6080760" y="1600200"/>
            <a:ext cx="5212080" cy="1691640"/>
          </a:xfrm>
          <a:prstGeom prst="roundRect">
            <a:avLst>
              <a:gd fmla="val 7568" name="adj"/>
            </a:avLst>
          </a:prstGeom>
          <a:solidFill>
            <a:srgbClr val="FDECEA"/>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6355080" y="178308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5554"/>
              </a:buClr>
              <a:buSzPts val="1250"/>
              <a:buFont typeface="Calibri"/>
              <a:buNone/>
            </a:pPr>
            <a:r>
              <a:rPr b="1" i="0" lang="en-US" sz="1250" u="none" cap="none" strike="noStrike">
                <a:solidFill>
                  <a:srgbClr val="E15554"/>
                </a:solidFill>
                <a:latin typeface="Calibri"/>
                <a:ea typeface="Calibri"/>
                <a:cs typeface="Calibri"/>
                <a:sym typeface="Calibri"/>
              </a:rPr>
              <a:t>MODÈLE FAUTIF  (risk management désactivé)</a:t>
            </a:r>
            <a:endParaRPr b="0" i="0" sz="1250" u="none" cap="none" strike="noStrike">
              <a:solidFill>
                <a:schemeClr val="dk1"/>
              </a:solidFill>
              <a:latin typeface="Calibri"/>
              <a:ea typeface="Calibri"/>
              <a:cs typeface="Calibri"/>
              <a:sym typeface="Calibri"/>
            </a:endParaRPr>
          </a:p>
        </p:txBody>
      </p:sp>
      <p:sp>
        <p:nvSpPr>
          <p:cNvPr id="303" name="Google Shape;303;p8"/>
          <p:cNvSpPr/>
          <p:nvPr/>
        </p:nvSpPr>
        <p:spPr>
          <a:xfrm>
            <a:off x="6355080" y="2468880"/>
            <a:ext cx="1097280" cy="457200"/>
          </a:xfrm>
          <a:prstGeom prst="roundRect">
            <a:avLst>
              <a:gd fmla="val 50000" name="adj"/>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635508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P1 ✗</a:t>
            </a:r>
            <a:endParaRPr b="0" i="0" sz="1200" u="none" cap="none" strike="noStrike">
              <a:solidFill>
                <a:schemeClr val="dk1"/>
              </a:solidFill>
              <a:latin typeface="Calibri"/>
              <a:ea typeface="Calibri"/>
              <a:cs typeface="Calibri"/>
              <a:sym typeface="Calibri"/>
            </a:endParaRPr>
          </a:p>
        </p:txBody>
      </p:sp>
      <p:sp>
        <p:nvSpPr>
          <p:cNvPr id="305" name="Google Shape;305;p8"/>
          <p:cNvSpPr/>
          <p:nvPr/>
        </p:nvSpPr>
        <p:spPr>
          <a:xfrm>
            <a:off x="7589520" y="2468880"/>
            <a:ext cx="1097280" cy="457200"/>
          </a:xfrm>
          <a:prstGeom prst="roundRect">
            <a:avLst>
              <a:gd fmla="val 50000" name="adj"/>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758952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P3 ✗</a:t>
            </a:r>
            <a:endParaRPr b="0" i="0" sz="1200" u="none" cap="none" strike="noStrike">
              <a:solidFill>
                <a:schemeClr val="dk1"/>
              </a:solidFill>
              <a:latin typeface="Calibri"/>
              <a:ea typeface="Calibri"/>
              <a:cs typeface="Calibri"/>
              <a:sym typeface="Calibri"/>
            </a:endParaRPr>
          </a:p>
        </p:txBody>
      </p:sp>
      <p:sp>
        <p:nvSpPr>
          <p:cNvPr id="307" name="Google Shape;307;p8"/>
          <p:cNvSpPr/>
          <p:nvPr/>
        </p:nvSpPr>
        <p:spPr>
          <a:xfrm>
            <a:off x="8823960" y="2468880"/>
            <a:ext cx="1097280" cy="457200"/>
          </a:xfrm>
          <a:prstGeom prst="roundRect">
            <a:avLst>
              <a:gd fmla="val 50000" name="adj"/>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8823960" y="2468880"/>
            <a:ext cx="10972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P8 ✗</a:t>
            </a:r>
            <a:endParaRPr b="0" i="0" sz="1200" u="none" cap="none" strike="noStrike">
              <a:solidFill>
                <a:schemeClr val="dk1"/>
              </a:solidFill>
              <a:latin typeface="Calibri"/>
              <a:ea typeface="Calibri"/>
              <a:cs typeface="Calibri"/>
              <a:sym typeface="Calibri"/>
            </a:endParaRPr>
          </a:p>
        </p:txBody>
      </p:sp>
      <p:sp>
        <p:nvSpPr>
          <p:cNvPr id="309" name="Google Shape;309;p8"/>
          <p:cNvSpPr/>
          <p:nvPr/>
        </p:nvSpPr>
        <p:spPr>
          <a:xfrm>
            <a:off x="548640" y="3657600"/>
            <a:ext cx="11064240" cy="2514600"/>
          </a:xfrm>
          <a:prstGeom prst="roundRect">
            <a:avLst>
              <a:gd fmla="val 4364" name="adj"/>
            </a:avLst>
          </a:prstGeom>
          <a:solidFill>
            <a:srgbClr val="1A1F30"/>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777240" y="3858768"/>
            <a:ext cx="137160" cy="137160"/>
          </a:xfrm>
          <a:prstGeom prst="ellipse">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1005840" y="3858768"/>
            <a:ext cx="137160" cy="137160"/>
          </a:xfrm>
          <a:prstGeom prst="ellipse">
            <a:avLst/>
          </a:prstGeom>
          <a:solidFill>
            <a:srgbClr val="E5B4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1234440" y="3858768"/>
            <a:ext cx="137160" cy="137160"/>
          </a:xfrm>
          <a:prstGeom prst="ellipse">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1554480" y="376732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3C0"/>
              </a:buClr>
              <a:buSzPts val="1100"/>
              <a:buFont typeface="Courier New"/>
              <a:buNone/>
            </a:pPr>
            <a:r>
              <a:rPr b="0" i="0" lang="en-US" sz="1100" u="none" cap="none" strike="noStrike">
                <a:solidFill>
                  <a:srgbClr val="8A93C0"/>
                </a:solidFill>
                <a:latin typeface="Courier New"/>
                <a:ea typeface="Courier New"/>
                <a:cs typeface="Courier New"/>
                <a:sym typeface="Courier New"/>
              </a:rPr>
              <a:t>contre-exemple  —  P1 : AG !margin_call</a:t>
            </a:r>
            <a:endParaRPr b="0" i="0" sz="1100" u="none" cap="none" strike="noStrike">
              <a:solidFill>
                <a:schemeClr val="dk1"/>
              </a:solidFill>
              <a:latin typeface="Calibri"/>
              <a:ea typeface="Calibri"/>
              <a:cs typeface="Calibri"/>
              <a:sym typeface="Calibri"/>
            </a:endParaRPr>
          </a:p>
        </p:txBody>
      </p:sp>
      <p:sp>
        <p:nvSpPr>
          <p:cNvPr id="314" name="Google Shape;314;p8"/>
          <p:cNvSpPr/>
          <p:nvPr/>
        </p:nvSpPr>
        <p:spPr>
          <a:xfrm>
            <a:off x="914400" y="4251960"/>
            <a:ext cx="9601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DBEE"/>
              </a:buClr>
              <a:buSzPts val="1400"/>
              <a:buFont typeface="Courier New"/>
              <a:buNone/>
            </a:pPr>
            <a:r>
              <a:rPr b="0" i="0" lang="en-US" sz="1400" u="none" cap="none" strike="noStrike">
                <a:solidFill>
                  <a:srgbClr val="D7DBEE"/>
                </a:solidFill>
                <a:latin typeface="Courier New"/>
                <a:ea typeface="Courier New"/>
                <a:cs typeface="Courier New"/>
                <a:sym typeface="Courier New"/>
              </a:rPr>
              <a:t>flat  dd=0 lev=0</a:t>
            </a:r>
            <a:endParaRPr b="0" i="0" sz="1400" u="none" cap="none" strike="noStrike">
              <a:solidFill>
                <a:schemeClr val="dk1"/>
              </a:solidFill>
              <a:latin typeface="Calibri"/>
              <a:ea typeface="Calibri"/>
              <a:cs typeface="Calibri"/>
              <a:sym typeface="Calibri"/>
            </a:endParaRPr>
          </a:p>
        </p:txBody>
      </p:sp>
      <p:sp>
        <p:nvSpPr>
          <p:cNvPr id="315" name="Google Shape;315;p8"/>
          <p:cNvSpPr/>
          <p:nvPr/>
        </p:nvSpPr>
        <p:spPr>
          <a:xfrm>
            <a:off x="914400" y="4599432"/>
            <a:ext cx="9601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DBEE"/>
              </a:buClr>
              <a:buSzPts val="1400"/>
              <a:buFont typeface="Courier New"/>
              <a:buNone/>
            </a:pPr>
            <a:r>
              <a:rPr b="0" i="0" lang="en-US" sz="1400" u="none" cap="none" strike="noStrike">
                <a:solidFill>
                  <a:srgbClr val="D7DBEE"/>
                </a:solidFill>
                <a:latin typeface="Courier New"/>
                <a:ea typeface="Courier New"/>
                <a:cs typeface="Courier New"/>
                <a:sym typeface="Courier New"/>
              </a:rPr>
              <a:t>long  dd=0 lev=2</a:t>
            </a:r>
            <a:endParaRPr b="0" i="0" sz="1400" u="none" cap="none" strike="noStrike">
              <a:solidFill>
                <a:schemeClr val="dk1"/>
              </a:solidFill>
              <a:latin typeface="Calibri"/>
              <a:ea typeface="Calibri"/>
              <a:cs typeface="Calibri"/>
              <a:sym typeface="Calibri"/>
            </a:endParaRPr>
          </a:p>
        </p:txBody>
      </p:sp>
      <p:sp>
        <p:nvSpPr>
          <p:cNvPr id="316" name="Google Shape;316;p8"/>
          <p:cNvSpPr/>
          <p:nvPr/>
        </p:nvSpPr>
        <p:spPr>
          <a:xfrm>
            <a:off x="914400" y="4946904"/>
            <a:ext cx="9601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DBEE"/>
              </a:buClr>
              <a:buSzPts val="1400"/>
              <a:buFont typeface="Courier New"/>
              <a:buNone/>
            </a:pPr>
            <a:r>
              <a:rPr b="0" i="0" lang="en-US" sz="1400" u="none" cap="none" strike="noStrike">
                <a:solidFill>
                  <a:srgbClr val="D7DBEE"/>
                </a:solidFill>
                <a:latin typeface="Courier New"/>
                <a:ea typeface="Courier New"/>
                <a:cs typeface="Courier New"/>
                <a:sym typeface="Courier New"/>
              </a:rPr>
              <a:t>long  dd=1 lev=2</a:t>
            </a:r>
            <a:endParaRPr b="0" i="0" sz="1400" u="none" cap="none" strike="noStrike">
              <a:solidFill>
                <a:schemeClr val="dk1"/>
              </a:solidFill>
              <a:latin typeface="Calibri"/>
              <a:ea typeface="Calibri"/>
              <a:cs typeface="Calibri"/>
              <a:sym typeface="Calibri"/>
            </a:endParaRPr>
          </a:p>
        </p:txBody>
      </p:sp>
      <p:sp>
        <p:nvSpPr>
          <p:cNvPr id="317" name="Google Shape;317;p8"/>
          <p:cNvSpPr/>
          <p:nvPr/>
        </p:nvSpPr>
        <p:spPr>
          <a:xfrm>
            <a:off x="914400" y="5294376"/>
            <a:ext cx="9601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DBEE"/>
              </a:buClr>
              <a:buSzPts val="1400"/>
              <a:buFont typeface="Courier New"/>
              <a:buNone/>
            </a:pPr>
            <a:r>
              <a:rPr b="0" i="0" lang="en-US" sz="1400" u="none" cap="none" strike="noStrike">
                <a:solidFill>
                  <a:srgbClr val="D7DBEE"/>
                </a:solidFill>
                <a:latin typeface="Courier New"/>
                <a:ea typeface="Courier New"/>
                <a:cs typeface="Courier New"/>
                <a:sym typeface="Courier New"/>
              </a:rPr>
              <a:t>long  dd=2 lev=2</a:t>
            </a:r>
            <a:endParaRPr b="0" i="0" sz="1400" u="none" cap="none" strike="noStrike">
              <a:solidFill>
                <a:schemeClr val="dk1"/>
              </a:solidFill>
              <a:latin typeface="Calibri"/>
              <a:ea typeface="Calibri"/>
              <a:cs typeface="Calibri"/>
              <a:sym typeface="Calibri"/>
            </a:endParaRPr>
          </a:p>
        </p:txBody>
      </p:sp>
      <p:sp>
        <p:nvSpPr>
          <p:cNvPr id="318" name="Google Shape;318;p8"/>
          <p:cNvSpPr/>
          <p:nvPr/>
        </p:nvSpPr>
        <p:spPr>
          <a:xfrm>
            <a:off x="914400" y="5641848"/>
            <a:ext cx="9601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8A80"/>
              </a:buClr>
              <a:buSzPts val="1400"/>
              <a:buFont typeface="Courier New"/>
              <a:buNone/>
            </a:pPr>
            <a:r>
              <a:rPr b="1" i="0" lang="en-US" sz="1400" u="none" cap="none" strike="noStrike">
                <a:solidFill>
                  <a:srgbClr val="FF8A80"/>
                </a:solidFill>
                <a:latin typeface="Courier New"/>
                <a:ea typeface="Courier New"/>
                <a:cs typeface="Courier New"/>
                <a:sym typeface="Courier New"/>
              </a:rPr>
              <a:t>long  dd=3 lev=2   &lt;- margin call</a:t>
            </a:r>
            <a:endParaRPr b="0" i="0" sz="1400" u="none" cap="none" strike="noStrike">
              <a:solidFill>
                <a:schemeClr val="dk1"/>
              </a:solidFill>
              <a:latin typeface="Calibri"/>
              <a:ea typeface="Calibri"/>
              <a:cs typeface="Calibri"/>
              <a:sym typeface="Calibri"/>
            </a:endParaRPr>
          </a:p>
        </p:txBody>
      </p:sp>
      <p:sp>
        <p:nvSpPr>
          <p:cNvPr id="319" name="Google Shape;319;p8"/>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06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24" name="Shape 324"/>
        <p:cNvGrpSpPr/>
        <p:nvPr/>
      </p:nvGrpSpPr>
      <p:grpSpPr>
        <a:xfrm>
          <a:off x="0" y="0"/>
          <a:ext cx="0" cy="0"/>
          <a:chOff x="0" y="0"/>
          <a:chExt cx="0" cy="0"/>
        </a:xfrm>
      </p:grpSpPr>
      <p:sp>
        <p:nvSpPr>
          <p:cNvPr id="325" name="Google Shape;325;p9"/>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EXTENSION</a:t>
            </a:r>
            <a:endParaRPr b="0" i="0" sz="1200" u="none" cap="none" strike="noStrike">
              <a:solidFill>
                <a:schemeClr val="dk1"/>
              </a:solidFill>
              <a:latin typeface="Calibri"/>
              <a:ea typeface="Calibri"/>
              <a:cs typeface="Calibri"/>
              <a:sym typeface="Calibri"/>
            </a:endParaRPr>
          </a:p>
        </p:txBody>
      </p:sp>
      <p:sp>
        <p:nvSpPr>
          <p:cNvPr id="326" name="Google Shape;326;p9"/>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Et si le marché est incertain ? (PCTL)</a:t>
            </a:r>
            <a:endParaRPr b="0" i="0" sz="3000" u="none" cap="none" strike="noStrike">
              <a:solidFill>
                <a:schemeClr val="dk1"/>
              </a:solidFill>
              <a:latin typeface="Calibri"/>
              <a:ea typeface="Calibri"/>
              <a:cs typeface="Calibri"/>
              <a:sym typeface="Calibri"/>
            </a:endParaRPr>
          </a:p>
        </p:txBody>
      </p:sp>
      <p:sp>
        <p:nvSpPr>
          <p:cNvPr id="327" name="Google Shape;327;p9"/>
          <p:cNvSpPr/>
          <p:nvPr/>
        </p:nvSpPr>
        <p:spPr>
          <a:xfrm>
            <a:off x="548640" y="2308860"/>
            <a:ext cx="1737300" cy="777300"/>
          </a:xfrm>
          <a:prstGeom prst="roundRect">
            <a:avLst>
              <a:gd fmla="val 18824" name="adj"/>
            </a:avLst>
          </a:prstGeom>
          <a:solidFill>
            <a:srgbClr val="E7EBFB"/>
          </a:solidFill>
          <a:ln cap="flat" cmpd="sng" w="19050">
            <a:solidFill>
              <a:srgbClr val="4C5FD9"/>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548640" y="2308860"/>
            <a:ext cx="17373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en position</a:t>
            </a:r>
            <a:endParaRPr b="0" i="0" sz="1300" u="none" cap="none" strike="noStrike">
              <a:solidFill>
                <a:schemeClr val="dk1"/>
              </a:solidFill>
              <a:latin typeface="Calibri"/>
              <a:ea typeface="Calibri"/>
              <a:cs typeface="Calibri"/>
              <a:sym typeface="Calibri"/>
            </a:endParaRPr>
          </a:p>
        </p:txBody>
      </p:sp>
      <p:sp>
        <p:nvSpPr>
          <p:cNvPr id="329" name="Google Shape;329;p9"/>
          <p:cNvSpPr/>
          <p:nvPr/>
        </p:nvSpPr>
        <p:spPr>
          <a:xfrm>
            <a:off x="4206240" y="1737360"/>
            <a:ext cx="2103120" cy="777240"/>
          </a:xfrm>
          <a:prstGeom prst="roundRect">
            <a:avLst>
              <a:gd fmla="val 18824" name="adj"/>
            </a:avLst>
          </a:prstGeom>
          <a:solidFill>
            <a:srgbClr val="FDECEA"/>
          </a:solidFill>
          <a:ln cap="flat" cmpd="sng" w="19050">
            <a:solidFill>
              <a:srgbClr val="E15554"/>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4206240" y="1737360"/>
            <a:ext cx="210312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150"/>
              <a:buFont typeface="Calibri"/>
              <a:buNone/>
            </a:pPr>
            <a:r>
              <a:rPr b="1" i="0" lang="en-US" sz="1150" u="none" cap="none" strike="noStrike">
                <a:solidFill>
                  <a:srgbClr val="232741"/>
                </a:solidFill>
                <a:latin typeface="Calibri"/>
                <a:ea typeface="Calibri"/>
                <a:cs typeface="Calibri"/>
                <a:sym typeface="Calibri"/>
              </a:rPr>
              <a:t>aggravation</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741"/>
              </a:buClr>
              <a:buSzPts val="1150"/>
              <a:buFont typeface="Calibri"/>
              <a:buNone/>
            </a:pPr>
            <a:r>
              <a:rPr b="1" i="0" lang="en-US" sz="1150" u="none" cap="none" strike="noStrike">
                <a:solidFill>
                  <a:srgbClr val="232741"/>
                </a:solidFill>
                <a:latin typeface="Calibri"/>
                <a:ea typeface="Calibri"/>
                <a:cs typeface="Calibri"/>
                <a:sym typeface="Calibri"/>
              </a:rPr>
              <a:t>drawdown</a:t>
            </a:r>
            <a:endParaRPr b="0" i="0" sz="1150" u="none" cap="none" strike="noStrike">
              <a:solidFill>
                <a:schemeClr val="dk1"/>
              </a:solidFill>
              <a:latin typeface="Calibri"/>
              <a:ea typeface="Calibri"/>
              <a:cs typeface="Calibri"/>
              <a:sym typeface="Calibri"/>
            </a:endParaRPr>
          </a:p>
        </p:txBody>
      </p:sp>
      <p:sp>
        <p:nvSpPr>
          <p:cNvPr id="331" name="Google Shape;331;p9"/>
          <p:cNvSpPr/>
          <p:nvPr/>
        </p:nvSpPr>
        <p:spPr>
          <a:xfrm>
            <a:off x="4206240" y="3200400"/>
            <a:ext cx="2103120" cy="777240"/>
          </a:xfrm>
          <a:prstGeom prst="roundRect">
            <a:avLst>
              <a:gd fmla="val 18824" name="adj"/>
            </a:avLst>
          </a:prstGeom>
          <a:solidFill>
            <a:srgbClr val="EAF7EF"/>
          </a:solidFill>
          <a:ln cap="flat" cmpd="sng" w="19050">
            <a:solidFill>
              <a:srgbClr val="2E9E64"/>
            </a:solidFill>
            <a:prstDash val="solid"/>
            <a:round/>
            <a:headEnd len="sm" w="sm" type="none"/>
            <a:tailEnd len="sm" w="sm" type="none"/>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4206240" y="3200400"/>
            <a:ext cx="210312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300"/>
              <a:buFont typeface="Calibri"/>
              <a:buNone/>
            </a:pPr>
            <a:r>
              <a:rPr b="1" i="0" lang="en-US" sz="1300" u="none" cap="none" strike="noStrike">
                <a:solidFill>
                  <a:srgbClr val="232741"/>
                </a:solidFill>
                <a:latin typeface="Calibri"/>
                <a:ea typeface="Calibri"/>
                <a:cs typeface="Calibri"/>
                <a:sym typeface="Calibri"/>
              </a:rPr>
              <a:t>stable</a:t>
            </a:r>
            <a:endParaRPr b="0" i="0" sz="1300" u="none" cap="none" strike="noStrike">
              <a:solidFill>
                <a:schemeClr val="dk1"/>
              </a:solidFill>
              <a:latin typeface="Calibri"/>
              <a:ea typeface="Calibri"/>
              <a:cs typeface="Calibri"/>
              <a:sym typeface="Calibri"/>
            </a:endParaRPr>
          </a:p>
        </p:txBody>
      </p:sp>
      <p:cxnSp>
        <p:nvCxnSpPr>
          <p:cNvPr id="333" name="Google Shape;333;p9"/>
          <p:cNvCxnSpPr>
            <a:stCxn id="328" idx="3"/>
          </p:cNvCxnSpPr>
          <p:nvPr/>
        </p:nvCxnSpPr>
        <p:spPr>
          <a:xfrm flipH="1" rot="10800000">
            <a:off x="2285940" y="2235810"/>
            <a:ext cx="1920300" cy="461700"/>
          </a:xfrm>
          <a:prstGeom prst="straightConnector1">
            <a:avLst/>
          </a:prstGeom>
          <a:noFill/>
          <a:ln cap="flat" cmpd="sng" w="25400">
            <a:solidFill>
              <a:srgbClr val="E15554"/>
            </a:solidFill>
            <a:prstDash val="solid"/>
            <a:round/>
            <a:headEnd len="sm" w="sm" type="none"/>
            <a:tailEnd len="med" w="med" type="triangle"/>
          </a:ln>
        </p:spPr>
      </p:cxnSp>
      <p:sp>
        <p:nvSpPr>
          <p:cNvPr id="334" name="Google Shape;334;p9"/>
          <p:cNvSpPr/>
          <p:nvPr/>
        </p:nvSpPr>
        <p:spPr>
          <a:xfrm>
            <a:off x="2743200" y="1508755"/>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15554"/>
              </a:buClr>
              <a:buSzPts val="1200"/>
              <a:buFont typeface="Courier New"/>
              <a:buNone/>
            </a:pPr>
            <a:r>
              <a:rPr b="1" i="0" lang="en-US" sz="1200" u="none" cap="none" strike="noStrike">
                <a:solidFill>
                  <a:srgbClr val="E15554"/>
                </a:solidFill>
                <a:latin typeface="Courier New"/>
                <a:ea typeface="Courier New"/>
                <a:cs typeface="Courier New"/>
                <a:sym typeface="Courier New"/>
              </a:rPr>
              <a:t>p = 0.3</a:t>
            </a:r>
            <a:endParaRPr b="0" i="0" sz="1200" u="none" cap="none" strike="noStrike">
              <a:solidFill>
                <a:schemeClr val="dk1"/>
              </a:solidFill>
              <a:latin typeface="Calibri"/>
              <a:ea typeface="Calibri"/>
              <a:cs typeface="Calibri"/>
              <a:sym typeface="Calibri"/>
            </a:endParaRPr>
          </a:p>
        </p:txBody>
      </p:sp>
      <p:cxnSp>
        <p:nvCxnSpPr>
          <p:cNvPr id="335" name="Google Shape;335;p9"/>
          <p:cNvCxnSpPr>
            <a:stCxn id="328" idx="3"/>
          </p:cNvCxnSpPr>
          <p:nvPr/>
        </p:nvCxnSpPr>
        <p:spPr>
          <a:xfrm>
            <a:off x="2285940" y="2697510"/>
            <a:ext cx="1920300" cy="868800"/>
          </a:xfrm>
          <a:prstGeom prst="straightConnector1">
            <a:avLst/>
          </a:prstGeom>
          <a:noFill/>
          <a:ln cap="flat" cmpd="sng" w="25400">
            <a:solidFill>
              <a:srgbClr val="2E9E64"/>
            </a:solidFill>
            <a:prstDash val="solid"/>
            <a:round/>
            <a:headEnd len="sm" w="sm" type="none"/>
            <a:tailEnd len="med" w="med" type="triangle"/>
          </a:ln>
        </p:spPr>
      </p:cxnSp>
      <p:sp>
        <p:nvSpPr>
          <p:cNvPr id="336" name="Google Shape;336;p9"/>
          <p:cNvSpPr/>
          <p:nvPr/>
        </p:nvSpPr>
        <p:spPr>
          <a:xfrm>
            <a:off x="2600750" y="3348005"/>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9E64"/>
              </a:buClr>
              <a:buSzPts val="1200"/>
              <a:buFont typeface="Courier New"/>
              <a:buNone/>
            </a:pPr>
            <a:r>
              <a:rPr b="1" i="0" lang="en-US" sz="1200" u="none" cap="none" strike="noStrike">
                <a:solidFill>
                  <a:srgbClr val="2E9E64"/>
                </a:solidFill>
                <a:latin typeface="Courier New"/>
                <a:ea typeface="Courier New"/>
                <a:cs typeface="Courier New"/>
                <a:sym typeface="Courier New"/>
              </a:rPr>
              <a:t>1 − p</a:t>
            </a:r>
            <a:endParaRPr b="0" i="0" sz="1200" u="none" cap="none" strike="noStrike">
              <a:solidFill>
                <a:schemeClr val="dk1"/>
              </a:solidFill>
              <a:latin typeface="Calibri"/>
              <a:ea typeface="Calibri"/>
              <a:cs typeface="Calibri"/>
              <a:sym typeface="Calibri"/>
            </a:endParaRPr>
          </a:p>
        </p:txBody>
      </p:sp>
      <p:sp>
        <p:nvSpPr>
          <p:cNvPr id="337" name="Google Shape;337;p9"/>
          <p:cNvSpPr/>
          <p:nvPr/>
        </p:nvSpPr>
        <p:spPr>
          <a:xfrm>
            <a:off x="548640" y="4206240"/>
            <a:ext cx="5760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50"/>
              <a:buFont typeface="Calibri"/>
              <a:buNone/>
            </a:pPr>
            <a:r>
              <a:rPr b="0" i="1" lang="en-US" sz="1150" u="none" cap="none" strike="noStrike">
                <a:solidFill>
                  <a:srgbClr val="6B7280"/>
                </a:solidFill>
                <a:latin typeface="Calibri"/>
                <a:ea typeface="Calibri"/>
                <a:cs typeface="Calibri"/>
                <a:sym typeface="Calibri"/>
              </a:rPr>
              <a:t>automate déterministe (CTL)  →  chaîne de Markov / MDP (PCTL)</a:t>
            </a:r>
            <a:endParaRPr b="0" i="0" sz="1150" u="none" cap="none" strike="noStrike">
              <a:solidFill>
                <a:schemeClr val="dk1"/>
              </a:solidFill>
              <a:latin typeface="Calibri"/>
              <a:ea typeface="Calibri"/>
              <a:cs typeface="Calibri"/>
              <a:sym typeface="Calibri"/>
            </a:endParaRPr>
          </a:p>
        </p:txBody>
      </p:sp>
      <p:sp>
        <p:nvSpPr>
          <p:cNvPr id="338" name="Google Shape;338;p9"/>
          <p:cNvSpPr/>
          <p:nvPr/>
        </p:nvSpPr>
        <p:spPr>
          <a:xfrm>
            <a:off x="6949440" y="1737360"/>
            <a:ext cx="2331720" cy="2651760"/>
          </a:xfrm>
          <a:prstGeom prst="roundRect">
            <a:avLst>
              <a:gd fmla="val 5490" name="adj"/>
            </a:avLst>
          </a:prstGeom>
          <a:solidFill>
            <a:srgbClr val="EAF7E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7132320" y="1965960"/>
            <a:ext cx="19659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9E64"/>
              </a:buClr>
              <a:buSzPts val="1200"/>
              <a:buFont typeface="Calibri"/>
              <a:buNone/>
            </a:pPr>
            <a:r>
              <a:rPr b="1" i="0" lang="en-US" sz="1200" u="none" cap="none" strike="noStrike">
                <a:solidFill>
                  <a:srgbClr val="2E9E64"/>
                </a:solidFill>
                <a:latin typeface="Calibri"/>
                <a:ea typeface="Calibri"/>
                <a:cs typeface="Calibri"/>
                <a:sym typeface="Calibri"/>
              </a:rPr>
              <a:t>CERTIFIÉ</a:t>
            </a:r>
            <a:endParaRPr b="0" i="0" sz="1200" u="none" cap="none" strike="noStrike">
              <a:solidFill>
                <a:schemeClr val="dk1"/>
              </a:solidFill>
              <a:latin typeface="Calibri"/>
              <a:ea typeface="Calibri"/>
              <a:cs typeface="Calibri"/>
              <a:sym typeface="Calibri"/>
            </a:endParaRPr>
          </a:p>
        </p:txBody>
      </p:sp>
      <p:sp>
        <p:nvSpPr>
          <p:cNvPr id="340" name="Google Shape;340;p9"/>
          <p:cNvSpPr/>
          <p:nvPr/>
        </p:nvSpPr>
        <p:spPr>
          <a:xfrm>
            <a:off x="7086600" y="2514600"/>
            <a:ext cx="20574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100"/>
              <a:buFont typeface="Courier New"/>
              <a:buNone/>
            </a:pPr>
            <a:r>
              <a:rPr b="0" i="0" lang="en-US" sz="1100" u="none" cap="none" strike="noStrike">
                <a:solidFill>
                  <a:srgbClr val="232741"/>
                </a:solidFill>
                <a:latin typeface="Courier New"/>
                <a:ea typeface="Courier New"/>
                <a:cs typeface="Courier New"/>
                <a:sym typeface="Courier New"/>
              </a:rPr>
              <a:t>P[G ¬margin_call]</a:t>
            </a:r>
            <a:endParaRPr b="0" i="0" sz="1100" u="none" cap="none" strike="noStrike">
              <a:solidFill>
                <a:schemeClr val="dk1"/>
              </a:solidFill>
              <a:latin typeface="Calibri"/>
              <a:ea typeface="Calibri"/>
              <a:cs typeface="Calibri"/>
              <a:sym typeface="Calibri"/>
            </a:endParaRPr>
          </a:p>
        </p:txBody>
      </p:sp>
      <p:sp>
        <p:nvSpPr>
          <p:cNvPr id="341" name="Google Shape;341;p9"/>
          <p:cNvSpPr/>
          <p:nvPr/>
        </p:nvSpPr>
        <p:spPr>
          <a:xfrm>
            <a:off x="7086600" y="2971800"/>
            <a:ext cx="20574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9E64"/>
              </a:buClr>
              <a:buSzPts val="3400"/>
              <a:buFont typeface="Cambria"/>
              <a:buNone/>
            </a:pPr>
            <a:r>
              <a:rPr b="1" i="0" lang="en-US" sz="3400" u="none" cap="none" strike="noStrike">
                <a:solidFill>
                  <a:srgbClr val="2E9E64"/>
                </a:solidFill>
                <a:latin typeface="Cambria"/>
                <a:ea typeface="Cambria"/>
                <a:cs typeface="Cambria"/>
                <a:sym typeface="Cambria"/>
              </a:rPr>
              <a:t>= 1.0</a:t>
            </a:r>
            <a:endParaRPr b="0" i="0" sz="3400" u="none" cap="none" strike="noStrike">
              <a:solidFill>
                <a:schemeClr val="dk1"/>
              </a:solidFill>
              <a:latin typeface="Calibri"/>
              <a:ea typeface="Calibri"/>
              <a:cs typeface="Calibri"/>
              <a:sym typeface="Calibri"/>
            </a:endParaRPr>
          </a:p>
        </p:txBody>
      </p:sp>
      <p:sp>
        <p:nvSpPr>
          <p:cNvPr id="342" name="Google Shape;342;p9"/>
          <p:cNvSpPr/>
          <p:nvPr/>
        </p:nvSpPr>
        <p:spPr>
          <a:xfrm>
            <a:off x="9601200" y="1737360"/>
            <a:ext cx="2331720" cy="2651760"/>
          </a:xfrm>
          <a:prstGeom prst="roundRect">
            <a:avLst>
              <a:gd fmla="val 5490" name="adj"/>
            </a:avLst>
          </a:prstGeom>
          <a:solidFill>
            <a:srgbClr val="FDECEA"/>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9784080" y="1965960"/>
            <a:ext cx="19659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15554"/>
              </a:buClr>
              <a:buSzPts val="1150"/>
              <a:buFont typeface="Calibri"/>
              <a:buNone/>
            </a:pPr>
            <a:r>
              <a:rPr b="1" i="0" lang="en-US" sz="1150" u="none" cap="none" strike="noStrike">
                <a:solidFill>
                  <a:srgbClr val="E15554"/>
                </a:solidFill>
                <a:latin typeface="Calibri"/>
                <a:ea typeface="Calibri"/>
                <a:cs typeface="Calibri"/>
                <a:sym typeface="Calibri"/>
              </a:rPr>
              <a:t>FAUTIF  (p=0.3)</a:t>
            </a:r>
            <a:endParaRPr b="0" i="0" sz="1150" u="none" cap="none" strike="noStrike">
              <a:solidFill>
                <a:schemeClr val="dk1"/>
              </a:solidFill>
              <a:latin typeface="Calibri"/>
              <a:ea typeface="Calibri"/>
              <a:cs typeface="Calibri"/>
              <a:sym typeface="Calibri"/>
            </a:endParaRPr>
          </a:p>
        </p:txBody>
      </p:sp>
      <p:sp>
        <p:nvSpPr>
          <p:cNvPr id="344" name="Google Shape;344;p9"/>
          <p:cNvSpPr/>
          <p:nvPr/>
        </p:nvSpPr>
        <p:spPr>
          <a:xfrm>
            <a:off x="9738360" y="2514600"/>
            <a:ext cx="20574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32741"/>
              </a:buClr>
              <a:buSzPts val="1100"/>
              <a:buFont typeface="Courier New"/>
              <a:buNone/>
            </a:pPr>
            <a:r>
              <a:rPr b="0" i="0" lang="en-US" sz="1100" u="none" cap="none" strike="noStrike">
                <a:solidFill>
                  <a:srgbClr val="232741"/>
                </a:solidFill>
                <a:latin typeface="Courier New"/>
                <a:ea typeface="Courier New"/>
                <a:cs typeface="Courier New"/>
                <a:sym typeface="Courier New"/>
              </a:rPr>
              <a:t>P[G ¬margin_call]</a:t>
            </a:r>
            <a:endParaRPr b="0" i="0" sz="1100" u="none" cap="none" strike="noStrike">
              <a:solidFill>
                <a:schemeClr val="dk1"/>
              </a:solidFill>
              <a:latin typeface="Calibri"/>
              <a:ea typeface="Calibri"/>
              <a:cs typeface="Calibri"/>
              <a:sym typeface="Calibri"/>
            </a:endParaRPr>
          </a:p>
        </p:txBody>
      </p:sp>
      <p:sp>
        <p:nvSpPr>
          <p:cNvPr id="345" name="Google Shape;345;p9"/>
          <p:cNvSpPr/>
          <p:nvPr/>
        </p:nvSpPr>
        <p:spPr>
          <a:xfrm>
            <a:off x="9738360" y="2971800"/>
            <a:ext cx="20574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15554"/>
              </a:buClr>
              <a:buSzPts val="3000"/>
              <a:buFont typeface="Cambria"/>
              <a:buNone/>
            </a:pPr>
            <a:r>
              <a:rPr b="1" i="0" lang="en-US" sz="3000" u="none" cap="none" strike="noStrike">
                <a:solidFill>
                  <a:srgbClr val="E15554"/>
                </a:solidFill>
                <a:latin typeface="Cambria"/>
                <a:ea typeface="Cambria"/>
                <a:cs typeface="Cambria"/>
                <a:sym typeface="Cambria"/>
              </a:rPr>
              <a:t>≈ 10⁻⁶</a:t>
            </a:r>
            <a:endParaRPr b="0" i="0" sz="3000" u="none" cap="none" strike="noStrike">
              <a:solidFill>
                <a:schemeClr val="dk1"/>
              </a:solidFill>
              <a:latin typeface="Calibri"/>
              <a:ea typeface="Calibri"/>
              <a:cs typeface="Calibri"/>
              <a:sym typeface="Calibri"/>
            </a:endParaRPr>
          </a:p>
        </p:txBody>
      </p:sp>
      <p:sp>
        <p:nvSpPr>
          <p:cNvPr id="346" name="Google Shape;346;p9"/>
          <p:cNvSpPr/>
          <p:nvPr/>
        </p:nvSpPr>
        <p:spPr>
          <a:xfrm>
            <a:off x="548640" y="4892040"/>
            <a:ext cx="11064240" cy="1371600"/>
          </a:xfrm>
          <a:prstGeom prst="roundRect">
            <a:avLst>
              <a:gd fmla="val 9333" name="adj"/>
            </a:avLst>
          </a:prstGeom>
          <a:solidFill>
            <a:srgbClr val="FFFFF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822960" y="5029200"/>
            <a:ext cx="10515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200"/>
              <a:buFont typeface="Calibri"/>
              <a:buNone/>
            </a:pPr>
            <a:r>
              <a:rPr b="1" i="0" lang="en-US" sz="1200" u="none" cap="none" strike="noStrike">
                <a:solidFill>
                  <a:srgbClr val="1B2340"/>
                </a:solidFill>
                <a:latin typeface="Calibri"/>
                <a:ea typeface="Calibri"/>
                <a:cs typeface="Calibri"/>
                <a:sym typeface="Calibri"/>
              </a:rPr>
              <a:t>Storm / PRISM  ·  value iteration sur MDP</a:t>
            </a:r>
            <a:endParaRPr b="0" i="0" sz="1200" u="none" cap="none" strike="noStrike">
              <a:solidFill>
                <a:schemeClr val="dk1"/>
              </a:solidFill>
              <a:latin typeface="Calibri"/>
              <a:ea typeface="Calibri"/>
              <a:cs typeface="Calibri"/>
              <a:sym typeface="Calibri"/>
            </a:endParaRPr>
          </a:p>
        </p:txBody>
      </p:sp>
      <p:sp>
        <p:nvSpPr>
          <p:cNvPr id="348" name="Google Shape;348;p9"/>
          <p:cNvSpPr/>
          <p:nvPr/>
        </p:nvSpPr>
        <p:spPr>
          <a:xfrm>
            <a:off x="822960" y="5394960"/>
            <a:ext cx="10515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741"/>
              </a:buClr>
              <a:buSzPts val="1250"/>
              <a:buFont typeface="Calibri"/>
              <a:buNone/>
            </a:pPr>
            <a:r>
              <a:rPr b="0" i="0" lang="en-US" sz="1250" u="none" cap="none" strike="noStrike">
                <a:solidFill>
                  <a:srgbClr val="232741"/>
                </a:solidFill>
                <a:latin typeface="Calibri"/>
                <a:ea typeface="Calibri"/>
                <a:cs typeface="Calibri"/>
                <a:sym typeface="Calibri"/>
              </a:rPr>
              <a:t>Passage de CTL (certitude totale) à PCTL : le marché introduit un mouvement adverse avec probabilité p. Le modèle certifié garde une probabilité 1 de ne jamais subir de margin call, même sous incertitude.</a:t>
            </a:r>
            <a:endParaRPr b="0" i="0" sz="1250" u="none" cap="none" strike="noStrike">
              <a:solidFill>
                <a:schemeClr val="dk1"/>
              </a:solidFill>
              <a:latin typeface="Calibri"/>
              <a:ea typeface="Calibri"/>
              <a:cs typeface="Calibri"/>
              <a:sym typeface="Calibri"/>
            </a:endParaRPr>
          </a:p>
        </p:txBody>
      </p:sp>
      <p:sp>
        <p:nvSpPr>
          <p:cNvPr id="349" name="Google Shape;349;p9"/>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07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54" name="Shape 354"/>
        <p:cNvGrpSpPr/>
        <p:nvPr/>
      </p:nvGrpSpPr>
      <p:grpSpPr>
        <a:xfrm>
          <a:off x="0" y="0"/>
          <a:ext cx="0" cy="0"/>
          <a:chOff x="0" y="0"/>
          <a:chExt cx="0" cy="0"/>
        </a:xfrm>
      </p:grpSpPr>
      <p:sp>
        <p:nvSpPr>
          <p:cNvPr id="355" name="Google Shape;355;p10"/>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MISE EN PRODUCTION</a:t>
            </a:r>
            <a:endParaRPr b="0" i="0" sz="1200" u="none" cap="none" strike="noStrike">
              <a:solidFill>
                <a:schemeClr val="dk1"/>
              </a:solidFill>
              <a:latin typeface="Calibri"/>
              <a:ea typeface="Calibri"/>
              <a:cs typeface="Calibri"/>
              <a:sym typeface="Calibri"/>
            </a:endParaRPr>
          </a:p>
        </p:txBody>
      </p:sp>
      <p:sp>
        <p:nvSpPr>
          <p:cNvPr id="356" name="Google Shape;356;p10"/>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Du modèle prouvé au bot réel</a:t>
            </a:r>
            <a:endParaRPr b="0" i="0" sz="3000" u="none" cap="none" strike="noStrike">
              <a:solidFill>
                <a:schemeClr val="dk1"/>
              </a:solidFill>
              <a:latin typeface="Calibri"/>
              <a:ea typeface="Calibri"/>
              <a:cs typeface="Calibri"/>
              <a:sym typeface="Calibri"/>
            </a:endParaRPr>
          </a:p>
        </p:txBody>
      </p:sp>
      <p:sp>
        <p:nvSpPr>
          <p:cNvPr id="357" name="Google Shape;357;p10"/>
          <p:cNvSpPr/>
          <p:nvPr/>
        </p:nvSpPr>
        <p:spPr>
          <a:xfrm>
            <a:off x="548640" y="1716065"/>
            <a:ext cx="2377500" cy="1371600"/>
          </a:xfrm>
          <a:prstGeom prst="roundRect">
            <a:avLst>
              <a:gd fmla="val 50000" name="adj"/>
            </a:avLst>
          </a:prstGeom>
          <a:solidFill>
            <a:srgbClr val="4C5FD9"/>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548640" y="1716065"/>
            <a:ext cx="23775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Modèle prouvé</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(CTL)</a:t>
            </a:r>
            <a:endParaRPr b="0" i="0" sz="1350" u="none" cap="none" strike="noStrike">
              <a:solidFill>
                <a:schemeClr val="dk1"/>
              </a:solidFill>
              <a:latin typeface="Calibri"/>
              <a:ea typeface="Calibri"/>
              <a:cs typeface="Calibri"/>
              <a:sym typeface="Calibri"/>
            </a:endParaRPr>
          </a:p>
        </p:txBody>
      </p:sp>
      <p:cxnSp>
        <p:nvCxnSpPr>
          <p:cNvPr id="359" name="Google Shape;359;p10"/>
          <p:cNvCxnSpPr/>
          <p:nvPr/>
        </p:nvCxnSpPr>
        <p:spPr>
          <a:xfrm>
            <a:off x="2962656" y="2401865"/>
            <a:ext cx="246900" cy="0"/>
          </a:xfrm>
          <a:prstGeom prst="straightConnector1">
            <a:avLst/>
          </a:prstGeom>
          <a:noFill/>
          <a:ln cap="flat" cmpd="sng" w="31750">
            <a:solidFill>
              <a:srgbClr val="1B2340"/>
            </a:solidFill>
            <a:prstDash val="solid"/>
            <a:round/>
            <a:headEnd len="sm" w="sm" type="none"/>
            <a:tailEnd len="med" w="med" type="triangle"/>
          </a:ln>
        </p:spPr>
      </p:cxnSp>
      <p:sp>
        <p:nvSpPr>
          <p:cNvPr id="360" name="Google Shape;360;p10"/>
          <p:cNvSpPr/>
          <p:nvPr/>
        </p:nvSpPr>
        <p:spPr>
          <a:xfrm>
            <a:off x="3246120" y="1716065"/>
            <a:ext cx="2377500" cy="1371600"/>
          </a:xfrm>
          <a:prstGeom prst="roundRect">
            <a:avLst>
              <a:gd fmla="val 50000" name="adj"/>
            </a:avLst>
          </a:prstGeom>
          <a:solidFill>
            <a:srgbClr val="1B2340"/>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3246120" y="1716065"/>
            <a:ext cx="23775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QC-Py-15</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optimisation</a:t>
            </a:r>
            <a:endParaRPr b="0" i="0" sz="1350" u="none" cap="none" strike="noStrike">
              <a:solidFill>
                <a:schemeClr val="dk1"/>
              </a:solidFill>
              <a:latin typeface="Calibri"/>
              <a:ea typeface="Calibri"/>
              <a:cs typeface="Calibri"/>
              <a:sym typeface="Calibri"/>
            </a:endParaRPr>
          </a:p>
        </p:txBody>
      </p:sp>
      <p:cxnSp>
        <p:nvCxnSpPr>
          <p:cNvPr id="362" name="Google Shape;362;p10"/>
          <p:cNvCxnSpPr/>
          <p:nvPr/>
        </p:nvCxnSpPr>
        <p:spPr>
          <a:xfrm>
            <a:off x="5660136" y="2401865"/>
            <a:ext cx="246900" cy="0"/>
          </a:xfrm>
          <a:prstGeom prst="straightConnector1">
            <a:avLst/>
          </a:prstGeom>
          <a:noFill/>
          <a:ln cap="flat" cmpd="sng" w="31750">
            <a:solidFill>
              <a:srgbClr val="1B2340"/>
            </a:solidFill>
            <a:prstDash val="solid"/>
            <a:round/>
            <a:headEnd len="sm" w="sm" type="none"/>
            <a:tailEnd len="med" w="med" type="triangle"/>
          </a:ln>
        </p:spPr>
      </p:cxnSp>
      <p:sp>
        <p:nvSpPr>
          <p:cNvPr id="363" name="Google Shape;363;p10"/>
          <p:cNvSpPr/>
          <p:nvPr/>
        </p:nvSpPr>
        <p:spPr>
          <a:xfrm>
            <a:off x="5943600" y="1716065"/>
            <a:ext cx="2377500" cy="1371600"/>
          </a:xfrm>
          <a:prstGeom prst="roundRect">
            <a:avLst>
              <a:gd fmla="val 50000" name="adj"/>
            </a:avLst>
          </a:prstGeom>
          <a:solidFill>
            <a:srgbClr val="1B2340"/>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
          <p:cNvSpPr/>
          <p:nvPr/>
        </p:nvSpPr>
        <p:spPr>
          <a:xfrm>
            <a:off x="5943600" y="1716065"/>
            <a:ext cx="23775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QC-Py-27</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production</a:t>
            </a:r>
            <a:endParaRPr b="0" i="0" sz="1350" u="none" cap="none" strike="noStrike">
              <a:solidFill>
                <a:schemeClr val="dk1"/>
              </a:solidFill>
              <a:latin typeface="Calibri"/>
              <a:ea typeface="Calibri"/>
              <a:cs typeface="Calibri"/>
              <a:sym typeface="Calibri"/>
            </a:endParaRPr>
          </a:p>
        </p:txBody>
      </p:sp>
      <p:cxnSp>
        <p:nvCxnSpPr>
          <p:cNvPr id="365" name="Google Shape;365;p10"/>
          <p:cNvCxnSpPr/>
          <p:nvPr/>
        </p:nvCxnSpPr>
        <p:spPr>
          <a:xfrm>
            <a:off x="8357616" y="2401865"/>
            <a:ext cx="246900" cy="0"/>
          </a:xfrm>
          <a:prstGeom prst="straightConnector1">
            <a:avLst/>
          </a:prstGeom>
          <a:noFill/>
          <a:ln cap="flat" cmpd="sng" w="31750">
            <a:solidFill>
              <a:srgbClr val="1B2340"/>
            </a:solidFill>
            <a:prstDash val="solid"/>
            <a:round/>
            <a:headEnd len="sm" w="sm" type="none"/>
            <a:tailEnd len="med" w="med" type="triangle"/>
          </a:ln>
        </p:spPr>
      </p:cxnSp>
      <p:sp>
        <p:nvSpPr>
          <p:cNvPr id="366" name="Google Shape;366;p10"/>
          <p:cNvSpPr/>
          <p:nvPr/>
        </p:nvSpPr>
        <p:spPr>
          <a:xfrm>
            <a:off x="8641080" y="1716065"/>
            <a:ext cx="2377500" cy="1371600"/>
          </a:xfrm>
          <a:prstGeom prst="roundRect">
            <a:avLst>
              <a:gd fmla="val 50000" name="adj"/>
            </a:avLst>
          </a:prstGeom>
          <a:solidFill>
            <a:srgbClr val="2E9E64"/>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p:nvPr/>
        </p:nvSpPr>
        <p:spPr>
          <a:xfrm>
            <a:off x="8641080" y="1716065"/>
            <a:ext cx="23775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Paper trading</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2-4 sem.</a:t>
            </a:r>
            <a:endParaRPr b="0" i="0" sz="1350" u="none" cap="none" strike="noStrike">
              <a:solidFill>
                <a:schemeClr val="dk1"/>
              </a:solidFill>
              <a:latin typeface="Calibri"/>
              <a:ea typeface="Calibri"/>
              <a:cs typeface="Calibri"/>
              <a:sym typeface="Calibri"/>
            </a:endParaRPr>
          </a:p>
        </p:txBody>
      </p:sp>
      <p:sp>
        <p:nvSpPr>
          <p:cNvPr id="368" name="Google Shape;368;p10"/>
          <p:cNvSpPr/>
          <p:nvPr/>
        </p:nvSpPr>
        <p:spPr>
          <a:xfrm>
            <a:off x="548640" y="3636305"/>
            <a:ext cx="11064300" cy="1051500"/>
          </a:xfrm>
          <a:prstGeom prst="roundRect">
            <a:avLst>
              <a:gd fmla="val 12174" name="adj"/>
            </a:avLst>
          </a:prstGeom>
          <a:solidFill>
            <a:srgbClr val="FFFFFF"/>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
          <p:cNvSpPr/>
          <p:nvPr/>
        </p:nvSpPr>
        <p:spPr>
          <a:xfrm>
            <a:off x="868680" y="3864905"/>
            <a:ext cx="594300" cy="594300"/>
          </a:xfrm>
          <a:prstGeom prst="ellipse">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
          <p:cNvSpPr/>
          <p:nvPr/>
        </p:nvSpPr>
        <p:spPr>
          <a:xfrm>
            <a:off x="868680" y="3864905"/>
            <a:ext cx="5943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0" i="0" lang="en-US" sz="2400" u="none" cap="none" strike="noStrike">
                <a:solidFill>
                  <a:srgbClr val="FFFFFF"/>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371" name="Google Shape;371;p10"/>
          <p:cNvSpPr/>
          <p:nvPr/>
        </p:nvSpPr>
        <p:spPr>
          <a:xfrm>
            <a:off x="1691640" y="3910625"/>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Calibri"/>
              <a:buNone/>
            </a:pPr>
            <a:r>
              <a:rPr b="1" i="0" lang="en-US" sz="1400" u="none" cap="none" strike="noStrike">
                <a:solidFill>
                  <a:srgbClr val="1B2340"/>
                </a:solidFill>
                <a:latin typeface="Calibri"/>
                <a:ea typeface="Calibri"/>
                <a:cs typeface="Calibri"/>
                <a:sym typeface="Calibri"/>
              </a:rPr>
              <a:t>Moniteur d'invariants embarqué</a:t>
            </a:r>
            <a:endParaRPr b="0" i="0" sz="1400" u="none" cap="none" strike="noStrike">
              <a:solidFill>
                <a:schemeClr val="dk1"/>
              </a:solidFill>
              <a:latin typeface="Calibri"/>
              <a:ea typeface="Calibri"/>
              <a:cs typeface="Calibri"/>
              <a:sym typeface="Calibri"/>
            </a:endParaRPr>
          </a:p>
        </p:txBody>
      </p:sp>
      <p:sp>
        <p:nvSpPr>
          <p:cNvPr id="372" name="Google Shape;372;p10"/>
          <p:cNvSpPr/>
          <p:nvPr/>
        </p:nvSpPr>
        <p:spPr>
          <a:xfrm>
            <a:off x="1691640" y="4230665"/>
            <a:ext cx="9601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741"/>
              </a:buClr>
              <a:buSzPts val="1200"/>
              <a:buFont typeface="Calibri"/>
              <a:buNone/>
            </a:pPr>
            <a:r>
              <a:rPr b="0" i="0" lang="en-US" sz="1200" u="none" cap="none" strike="noStrike">
                <a:solidFill>
                  <a:srgbClr val="232741"/>
                </a:solidFill>
                <a:latin typeface="Calibri"/>
                <a:ea typeface="Calibri"/>
                <a:cs typeface="Calibri"/>
                <a:sym typeface="Calibri"/>
              </a:rPr>
              <a:t>Même code de contrôle utilisé pour le model checking ET l'algorithme LEAN.</a:t>
            </a:r>
            <a:endParaRPr b="0" i="0" sz="1200" u="none" cap="none" strike="noStrike">
              <a:solidFill>
                <a:schemeClr val="dk1"/>
              </a:solidFill>
              <a:latin typeface="Calibri"/>
              <a:ea typeface="Calibri"/>
              <a:cs typeface="Calibri"/>
              <a:sym typeface="Calibri"/>
            </a:endParaRPr>
          </a:p>
        </p:txBody>
      </p:sp>
      <p:sp>
        <p:nvSpPr>
          <p:cNvPr id="373" name="Google Shape;373;p10"/>
          <p:cNvSpPr/>
          <p:nvPr/>
        </p:nvSpPr>
        <p:spPr>
          <a:xfrm>
            <a:off x="548640" y="4916465"/>
            <a:ext cx="11064300" cy="914400"/>
          </a:xfrm>
          <a:prstGeom prst="roundRect">
            <a:avLst>
              <a:gd fmla="val 14000" name="adj"/>
            </a:avLst>
          </a:prstGeom>
          <a:solidFill>
            <a:srgbClr val="EEF0F5"/>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0"/>
          <p:cNvSpPr/>
          <p:nvPr/>
        </p:nvSpPr>
        <p:spPr>
          <a:xfrm>
            <a:off x="822960" y="5007905"/>
            <a:ext cx="105156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741"/>
              </a:buClr>
              <a:buSzPts val="1250"/>
              <a:buFont typeface="Calibri"/>
              <a:buNone/>
            </a:pPr>
            <a:r>
              <a:rPr b="0" i="0" lang="en-US" sz="1250" u="none" cap="none" strike="noStrike">
                <a:solidFill>
                  <a:srgbClr val="232741"/>
                </a:solidFill>
                <a:latin typeface="Calibri"/>
                <a:ea typeface="Calibri"/>
                <a:cs typeface="Calibri"/>
                <a:sym typeface="Calibri"/>
              </a:rPr>
              <a:t>La logique de contrôle (next_mode, seuils de drawdown/levier) est la même entre le modèle Python vérifié, les fichiers NuSMV/PRISM, et l'algorithme QuantConnect : ce qui est prouvé correspond à ce qui s'exécute.</a:t>
            </a:r>
            <a:endParaRPr b="0" i="0" sz="1250" u="none" cap="none" strike="noStrike">
              <a:solidFill>
                <a:schemeClr val="dk1"/>
              </a:solidFill>
              <a:latin typeface="Calibri"/>
              <a:ea typeface="Calibri"/>
              <a:cs typeface="Calibri"/>
              <a:sym typeface="Calibri"/>
            </a:endParaRPr>
          </a:p>
        </p:txBody>
      </p:sp>
      <p:sp>
        <p:nvSpPr>
          <p:cNvPr id="375" name="Google Shape;375;p10"/>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08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80" name="Shape 380"/>
        <p:cNvGrpSpPr/>
        <p:nvPr/>
      </p:nvGrpSpPr>
      <p:grpSpPr>
        <a:xfrm>
          <a:off x="0" y="0"/>
          <a:ext cx="0" cy="0"/>
          <a:chOff x="0" y="0"/>
          <a:chExt cx="0" cy="0"/>
        </a:xfrm>
      </p:grpSpPr>
      <p:sp>
        <p:nvSpPr>
          <p:cNvPr id="381" name="Google Shape;381;p11"/>
          <p:cNvSpPr/>
          <p:nvPr/>
        </p:nvSpPr>
        <p:spPr>
          <a:xfrm>
            <a:off x="548640" y="320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5FD9"/>
              </a:buClr>
              <a:buSzPts val="1200"/>
              <a:buFont typeface="Calibri"/>
              <a:buNone/>
            </a:pPr>
            <a:r>
              <a:rPr b="1" i="0" lang="en-US" sz="1200" u="none" cap="none" strike="noStrike">
                <a:solidFill>
                  <a:srgbClr val="4C5FD9"/>
                </a:solidFill>
                <a:latin typeface="Calibri"/>
                <a:ea typeface="Calibri"/>
                <a:cs typeface="Calibri"/>
                <a:sym typeface="Calibri"/>
              </a:rPr>
              <a:t>DÉMONSTRATION</a:t>
            </a:r>
            <a:endParaRPr b="0" i="0" sz="1200" u="none" cap="none" strike="noStrike">
              <a:solidFill>
                <a:schemeClr val="dk1"/>
              </a:solidFill>
              <a:latin typeface="Calibri"/>
              <a:ea typeface="Calibri"/>
              <a:cs typeface="Calibri"/>
              <a:sym typeface="Calibri"/>
            </a:endParaRPr>
          </a:p>
        </p:txBody>
      </p:sp>
      <p:sp>
        <p:nvSpPr>
          <p:cNvPr id="382" name="Google Shape;382;p11"/>
          <p:cNvSpPr/>
          <p:nvPr/>
        </p:nvSpPr>
        <p:spPr>
          <a:xfrm>
            <a:off x="548640" y="621792"/>
            <a:ext cx="110642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3000"/>
              <a:buFont typeface="Cambria"/>
              <a:buNone/>
            </a:pPr>
            <a:r>
              <a:rPr b="1" i="0" lang="en-US" sz="3000" u="none" cap="none" strike="noStrike">
                <a:solidFill>
                  <a:srgbClr val="1B2340"/>
                </a:solidFill>
                <a:latin typeface="Cambria"/>
                <a:ea typeface="Cambria"/>
                <a:cs typeface="Cambria"/>
                <a:sym typeface="Cambria"/>
              </a:rPr>
              <a:t>Démo live</a:t>
            </a:r>
            <a:endParaRPr b="0" i="0" sz="3000" u="none" cap="none" strike="noStrike">
              <a:solidFill>
                <a:schemeClr val="dk1"/>
              </a:solidFill>
              <a:latin typeface="Calibri"/>
              <a:ea typeface="Calibri"/>
              <a:cs typeface="Calibri"/>
              <a:sym typeface="Calibri"/>
            </a:endParaRPr>
          </a:p>
        </p:txBody>
      </p:sp>
      <p:sp>
        <p:nvSpPr>
          <p:cNvPr id="383" name="Google Shape;383;p11"/>
          <p:cNvSpPr/>
          <p:nvPr/>
        </p:nvSpPr>
        <p:spPr>
          <a:xfrm>
            <a:off x="1280160" y="2011680"/>
            <a:ext cx="9601200" cy="3291840"/>
          </a:xfrm>
          <a:prstGeom prst="roundRect">
            <a:avLst>
              <a:gd fmla="val 3889" name="adj"/>
            </a:avLst>
          </a:prstGeom>
          <a:solidFill>
            <a:srgbClr val="1A1F30"/>
          </a:solidFill>
          <a:ln>
            <a:noFill/>
          </a:ln>
          <a:effectLst>
            <a:outerShdw blurRad="127000" rotWithShape="0" algn="bl" dir="5400000" dist="38100">
              <a:srgbClr val="1B234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1600200" y="2286000"/>
            <a:ext cx="146304" cy="146304"/>
          </a:xfrm>
          <a:prstGeom prst="ellipse">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1"/>
          <p:cNvSpPr/>
          <p:nvPr/>
        </p:nvSpPr>
        <p:spPr>
          <a:xfrm>
            <a:off x="1847088" y="2286000"/>
            <a:ext cx="146304" cy="146304"/>
          </a:xfrm>
          <a:prstGeom prst="ellipse">
            <a:avLst/>
          </a:prstGeom>
          <a:solidFill>
            <a:srgbClr val="E5B4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2093976" y="2286000"/>
            <a:ext cx="146304" cy="146304"/>
          </a:xfrm>
          <a:prstGeom prst="ellipse">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a:off x="1737360" y="2788920"/>
            <a:ext cx="8778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9E64"/>
              </a:buClr>
              <a:buSzPts val="1500"/>
              <a:buFont typeface="Courier New"/>
              <a:buNone/>
            </a:pPr>
            <a:r>
              <a:rPr b="1" i="0" lang="en-US" sz="1500" u="none" cap="none" strike="noStrike">
                <a:solidFill>
                  <a:srgbClr val="2E9E64"/>
                </a:solidFill>
                <a:latin typeface="Courier New"/>
                <a:ea typeface="Courier New"/>
                <a:cs typeface="Courier New"/>
                <a:sym typeface="Courier New"/>
              </a:rPr>
              <a:t>$ </a:t>
            </a:r>
            <a:r>
              <a:rPr b="1" i="0" lang="en-US" sz="1500" u="none" cap="none" strike="noStrike">
                <a:solidFill>
                  <a:srgbClr val="E8EBF7"/>
                </a:solidFill>
                <a:latin typeface="Courier New"/>
                <a:ea typeface="Courier New"/>
                <a:cs typeface="Courier New"/>
                <a:sym typeface="Courier New"/>
              </a:rPr>
              <a:t>python verify.py  </a:t>
            </a:r>
            <a:r>
              <a:rPr b="0" i="0" lang="en-US" sz="1500" u="none" cap="none" strike="noStrike">
                <a:solidFill>
                  <a:srgbClr val="6E7BAE"/>
                </a:solidFill>
                <a:latin typeface="Courier New"/>
                <a:ea typeface="Courier New"/>
                <a:cs typeface="Courier New"/>
                <a:sym typeface="Courier New"/>
              </a:rPr>
              <a:t># CTL : certifié + fautif</a:t>
            </a:r>
            <a:endParaRPr b="0" i="0" sz="1500" u="none" cap="none" strike="noStrike">
              <a:solidFill>
                <a:schemeClr val="dk1"/>
              </a:solidFill>
              <a:latin typeface="Calibri"/>
              <a:ea typeface="Calibri"/>
              <a:cs typeface="Calibri"/>
              <a:sym typeface="Calibri"/>
            </a:endParaRPr>
          </a:p>
        </p:txBody>
      </p:sp>
      <p:sp>
        <p:nvSpPr>
          <p:cNvPr id="388" name="Google Shape;388;p11"/>
          <p:cNvSpPr/>
          <p:nvPr/>
        </p:nvSpPr>
        <p:spPr>
          <a:xfrm>
            <a:off x="1737360" y="3355848"/>
            <a:ext cx="8778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9E64"/>
              </a:buClr>
              <a:buSzPts val="1500"/>
              <a:buFont typeface="Courier New"/>
              <a:buNone/>
            </a:pPr>
            <a:r>
              <a:rPr b="1" i="0" lang="en-US" sz="1500" u="none" cap="none" strike="noStrike">
                <a:solidFill>
                  <a:srgbClr val="2E9E64"/>
                </a:solidFill>
                <a:latin typeface="Courier New"/>
                <a:ea typeface="Courier New"/>
                <a:cs typeface="Courier New"/>
                <a:sym typeface="Courier New"/>
              </a:rPr>
              <a:t>$ </a:t>
            </a:r>
            <a:r>
              <a:rPr b="1" i="0" lang="en-US" sz="1500" u="none" cap="none" strike="noStrike">
                <a:solidFill>
                  <a:srgbClr val="E8EBF7"/>
                </a:solidFill>
                <a:latin typeface="Courier New"/>
                <a:ea typeface="Courier New"/>
                <a:cs typeface="Courier New"/>
                <a:sym typeface="Courier New"/>
              </a:rPr>
              <a:t>python verify_pctl.py  </a:t>
            </a:r>
            <a:r>
              <a:rPr b="0" i="0" lang="en-US" sz="1500" u="none" cap="none" strike="noStrike">
                <a:solidFill>
                  <a:srgbClr val="6E7BAE"/>
                </a:solidFill>
                <a:latin typeface="Courier New"/>
                <a:ea typeface="Courier New"/>
                <a:cs typeface="Courier New"/>
                <a:sym typeface="Courier New"/>
              </a:rPr>
              <a:t># PCTL : quantification du risque</a:t>
            </a:r>
            <a:endParaRPr b="0" i="0" sz="1500" u="none" cap="none" strike="noStrike">
              <a:solidFill>
                <a:schemeClr val="dk1"/>
              </a:solidFill>
              <a:latin typeface="Calibri"/>
              <a:ea typeface="Calibri"/>
              <a:cs typeface="Calibri"/>
              <a:sym typeface="Calibri"/>
            </a:endParaRPr>
          </a:p>
        </p:txBody>
      </p:sp>
      <p:sp>
        <p:nvSpPr>
          <p:cNvPr id="389" name="Google Shape;389;p11"/>
          <p:cNvSpPr/>
          <p:nvPr/>
        </p:nvSpPr>
        <p:spPr>
          <a:xfrm>
            <a:off x="1737360" y="3922776"/>
            <a:ext cx="8778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9E64"/>
              </a:buClr>
              <a:buSzPts val="1500"/>
              <a:buFont typeface="Courier New"/>
              <a:buNone/>
            </a:pPr>
            <a:r>
              <a:rPr b="1" i="0" lang="en-US" sz="1500" u="none" cap="none" strike="noStrike">
                <a:solidFill>
                  <a:srgbClr val="2E9E64"/>
                </a:solidFill>
                <a:latin typeface="Courier New"/>
                <a:ea typeface="Courier New"/>
                <a:cs typeface="Courier New"/>
                <a:sym typeface="Courier New"/>
              </a:rPr>
              <a:t>$ </a:t>
            </a:r>
            <a:r>
              <a:rPr b="1" i="0" lang="en-US" sz="1500" u="none" cap="none" strike="noStrike">
                <a:solidFill>
                  <a:srgbClr val="E8EBF7"/>
                </a:solidFill>
                <a:latin typeface="Courier New"/>
                <a:ea typeface="Courier New"/>
                <a:cs typeface="Courier New"/>
                <a:sym typeface="Courier New"/>
              </a:rPr>
              <a:t>python run_backtest.py  </a:t>
            </a:r>
            <a:r>
              <a:rPr b="0" i="0" lang="en-US" sz="1500" u="none" cap="none" strike="noStrike">
                <a:solidFill>
                  <a:srgbClr val="6E7BAE"/>
                </a:solidFill>
                <a:latin typeface="Courier New"/>
                <a:ea typeface="Courier New"/>
                <a:cs typeface="Courier New"/>
                <a:sym typeface="Courier New"/>
              </a:rPr>
              <a:t># backtest + monitoring runtime</a:t>
            </a:r>
            <a:endParaRPr b="0" i="0" sz="1500" u="none" cap="none" strike="noStrike">
              <a:solidFill>
                <a:schemeClr val="dk1"/>
              </a:solidFill>
              <a:latin typeface="Calibri"/>
              <a:ea typeface="Calibri"/>
              <a:cs typeface="Calibri"/>
              <a:sym typeface="Calibri"/>
            </a:endParaRPr>
          </a:p>
        </p:txBody>
      </p:sp>
      <p:sp>
        <p:nvSpPr>
          <p:cNvPr id="390" name="Google Shape;390;p11"/>
          <p:cNvSpPr/>
          <p:nvPr/>
        </p:nvSpPr>
        <p:spPr>
          <a:xfrm>
            <a:off x="1737360" y="4489704"/>
            <a:ext cx="8778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9E64"/>
              </a:buClr>
              <a:buSzPts val="1500"/>
              <a:buFont typeface="Courier New"/>
              <a:buNone/>
            </a:pPr>
            <a:r>
              <a:rPr b="1" i="0" lang="en-US" sz="1500" u="none" cap="none" strike="noStrike">
                <a:solidFill>
                  <a:srgbClr val="2E9E64"/>
                </a:solidFill>
                <a:latin typeface="Courier New"/>
                <a:ea typeface="Courier New"/>
                <a:cs typeface="Courier New"/>
                <a:sym typeface="Courier New"/>
              </a:rPr>
              <a:t>$ </a:t>
            </a:r>
            <a:r>
              <a:rPr b="1" i="0" lang="en-US" sz="1500" u="none" cap="none" strike="noStrike">
                <a:solidFill>
                  <a:srgbClr val="E8EBF7"/>
                </a:solidFill>
                <a:latin typeface="Courier New"/>
                <a:ea typeface="Courier New"/>
                <a:cs typeface="Courier New"/>
                <a:sym typeface="Courier New"/>
              </a:rPr>
              <a:t>python -m pytest tests/  </a:t>
            </a:r>
            <a:r>
              <a:rPr b="0" i="0" lang="en-US" sz="1500" u="none" cap="none" strike="noStrike">
                <a:solidFill>
                  <a:srgbClr val="6E7BAE"/>
                </a:solidFill>
                <a:latin typeface="Courier New"/>
                <a:ea typeface="Courier New"/>
                <a:cs typeface="Courier New"/>
                <a:sym typeface="Courier New"/>
              </a:rPr>
              <a:t># 15 tests</a:t>
            </a:r>
            <a:endParaRPr b="0" i="0" sz="1500" u="none" cap="none" strike="noStrike">
              <a:solidFill>
                <a:schemeClr val="dk1"/>
              </a:solidFill>
              <a:latin typeface="Calibri"/>
              <a:ea typeface="Calibri"/>
              <a:cs typeface="Calibri"/>
              <a:sym typeface="Calibri"/>
            </a:endParaRPr>
          </a:p>
        </p:txBody>
      </p:sp>
      <p:sp>
        <p:nvSpPr>
          <p:cNvPr id="391" name="Google Shape;391;p11"/>
          <p:cNvSpPr/>
          <p:nvPr/>
        </p:nvSpPr>
        <p:spPr>
          <a:xfrm>
            <a:off x="1280160" y="5577840"/>
            <a:ext cx="9601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280"/>
              </a:buClr>
              <a:buSzPts val="1400"/>
              <a:buFont typeface="Calibri"/>
              <a:buNone/>
            </a:pPr>
            <a:r>
              <a:rPr b="0" i="1" lang="en-US" sz="1400" u="none" cap="none" strike="noStrike">
                <a:solidFill>
                  <a:srgbClr val="6B7280"/>
                </a:solidFill>
                <a:latin typeface="Calibri"/>
                <a:ea typeface="Calibri"/>
                <a:cs typeface="Calibri"/>
                <a:sym typeface="Calibri"/>
              </a:rPr>
              <a:t>Tout tourne en Python pur, sans installer NuSMV / PRISM</a:t>
            </a:r>
            <a:endParaRPr b="0" i="0" sz="1400" u="none" cap="none" strike="noStrike">
              <a:solidFill>
                <a:schemeClr val="dk1"/>
              </a:solidFill>
              <a:latin typeface="Calibri"/>
              <a:ea typeface="Calibri"/>
              <a:cs typeface="Calibri"/>
              <a:sym typeface="Calibri"/>
            </a:endParaRPr>
          </a:p>
        </p:txBody>
      </p:sp>
      <p:sp>
        <p:nvSpPr>
          <p:cNvPr id="392" name="Google Shape;392;p11"/>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09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340"/>
        </a:solidFill>
      </p:bgPr>
    </p:bg>
    <p:spTree>
      <p:nvGrpSpPr>
        <p:cNvPr id="397" name="Shape 397"/>
        <p:cNvGrpSpPr/>
        <p:nvPr/>
      </p:nvGrpSpPr>
      <p:grpSpPr>
        <a:xfrm>
          <a:off x="0" y="0"/>
          <a:ext cx="0" cy="0"/>
          <a:chOff x="0" y="0"/>
          <a:chExt cx="0" cy="0"/>
        </a:xfrm>
      </p:grpSpPr>
      <p:sp>
        <p:nvSpPr>
          <p:cNvPr id="398" name="Google Shape;398;p12"/>
          <p:cNvSpPr/>
          <p:nvPr/>
        </p:nvSpPr>
        <p:spPr>
          <a:xfrm>
            <a:off x="548653" y="403300"/>
            <a:ext cx="7315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FC0FF"/>
              </a:buClr>
              <a:buSzPts val="1200"/>
              <a:buFont typeface="Calibri"/>
              <a:buNone/>
            </a:pPr>
            <a:r>
              <a:rPr b="1" i="0" lang="en-US" sz="1200" u="none" cap="none" strike="noStrike">
                <a:solidFill>
                  <a:srgbClr val="AFC0FF"/>
                </a:solidFill>
                <a:latin typeface="Calibri"/>
                <a:ea typeface="Calibri"/>
                <a:cs typeface="Calibri"/>
                <a:sym typeface="Calibri"/>
              </a:rPr>
              <a:t>LIMITES ET CONCLUSION</a:t>
            </a:r>
            <a:endParaRPr b="0" i="0" sz="1200" u="none" cap="none" strike="noStrike">
              <a:solidFill>
                <a:schemeClr val="dk1"/>
              </a:solidFill>
              <a:latin typeface="Calibri"/>
              <a:ea typeface="Calibri"/>
              <a:cs typeface="Calibri"/>
              <a:sym typeface="Calibri"/>
            </a:endParaRPr>
          </a:p>
        </p:txBody>
      </p:sp>
      <p:sp>
        <p:nvSpPr>
          <p:cNvPr id="399" name="Google Shape;399;p12"/>
          <p:cNvSpPr/>
          <p:nvPr/>
        </p:nvSpPr>
        <p:spPr>
          <a:xfrm>
            <a:off x="421378" y="853885"/>
            <a:ext cx="109728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Le gap entre le modèle et la réalité</a:t>
            </a:r>
            <a:endParaRPr b="0" i="0" sz="2800" u="none" cap="none" strike="noStrike">
              <a:solidFill>
                <a:schemeClr val="dk1"/>
              </a:solidFill>
              <a:latin typeface="Calibri"/>
              <a:ea typeface="Calibri"/>
              <a:cs typeface="Calibri"/>
              <a:sym typeface="Calibri"/>
            </a:endParaRPr>
          </a:p>
        </p:txBody>
      </p:sp>
      <p:sp>
        <p:nvSpPr>
          <p:cNvPr id="400" name="Google Shape;400;p12"/>
          <p:cNvSpPr/>
          <p:nvPr/>
        </p:nvSpPr>
        <p:spPr>
          <a:xfrm>
            <a:off x="477298" y="2641715"/>
            <a:ext cx="1554600" cy="685800"/>
          </a:xfrm>
          <a:prstGeom prst="roundRect">
            <a:avLst>
              <a:gd fmla="val 49333" name="adj"/>
            </a:avLst>
          </a:prstGeom>
          <a:solidFill>
            <a:srgbClr val="232C52"/>
          </a:solidFill>
          <a:ln cap="flat" cmpd="sng" w="12700">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p:nvPr/>
        </p:nvSpPr>
        <p:spPr>
          <a:xfrm>
            <a:off x="477298" y="2641715"/>
            <a:ext cx="155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ourier New"/>
              <a:buNone/>
            </a:pPr>
            <a:r>
              <a:rPr b="1" i="0" lang="en-US" sz="1300" u="none" cap="none" strike="noStrike">
                <a:solidFill>
                  <a:srgbClr val="FFFFFF"/>
                </a:solidFill>
                <a:latin typeface="Courier New"/>
                <a:ea typeface="Courier New"/>
                <a:cs typeface="Courier New"/>
                <a:sym typeface="Courier New"/>
              </a:rPr>
              <a:t>dd=0</a:t>
            </a:r>
            <a:endParaRPr b="0" i="0" sz="1300" u="none" cap="none" strike="noStrike">
              <a:solidFill>
                <a:schemeClr val="dk1"/>
              </a:solidFill>
              <a:latin typeface="Calibri"/>
              <a:ea typeface="Calibri"/>
              <a:cs typeface="Calibri"/>
              <a:sym typeface="Calibri"/>
            </a:endParaRPr>
          </a:p>
        </p:txBody>
      </p:sp>
      <p:sp>
        <p:nvSpPr>
          <p:cNvPr id="402" name="Google Shape;402;p12"/>
          <p:cNvSpPr/>
          <p:nvPr/>
        </p:nvSpPr>
        <p:spPr>
          <a:xfrm>
            <a:off x="2580418" y="2641715"/>
            <a:ext cx="1554600" cy="685800"/>
          </a:xfrm>
          <a:prstGeom prst="roundRect">
            <a:avLst>
              <a:gd fmla="val 49333" name="adj"/>
            </a:avLst>
          </a:prstGeom>
          <a:solidFill>
            <a:srgbClr val="232C52"/>
          </a:solidFill>
          <a:ln cap="flat" cmpd="sng" w="12700">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2580418" y="2641715"/>
            <a:ext cx="155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ourier New"/>
              <a:buNone/>
            </a:pPr>
            <a:r>
              <a:rPr b="1" i="0" lang="en-US" sz="1300" u="none" cap="none" strike="noStrike">
                <a:solidFill>
                  <a:srgbClr val="FFFFFF"/>
                </a:solidFill>
                <a:latin typeface="Courier New"/>
                <a:ea typeface="Courier New"/>
                <a:cs typeface="Courier New"/>
                <a:sym typeface="Courier New"/>
              </a:rPr>
              <a:t>dd=1</a:t>
            </a:r>
            <a:endParaRPr b="0" i="0" sz="1300" u="none" cap="none" strike="noStrike">
              <a:solidFill>
                <a:schemeClr val="dk1"/>
              </a:solidFill>
              <a:latin typeface="Calibri"/>
              <a:ea typeface="Calibri"/>
              <a:cs typeface="Calibri"/>
              <a:sym typeface="Calibri"/>
            </a:endParaRPr>
          </a:p>
        </p:txBody>
      </p:sp>
      <p:sp>
        <p:nvSpPr>
          <p:cNvPr id="404" name="Google Shape;404;p12"/>
          <p:cNvSpPr/>
          <p:nvPr/>
        </p:nvSpPr>
        <p:spPr>
          <a:xfrm>
            <a:off x="4683538" y="2641715"/>
            <a:ext cx="1554600" cy="685800"/>
          </a:xfrm>
          <a:prstGeom prst="roundRect">
            <a:avLst>
              <a:gd fmla="val 49333" name="adj"/>
            </a:avLst>
          </a:prstGeom>
          <a:solidFill>
            <a:srgbClr val="232C52"/>
          </a:solidFill>
          <a:ln cap="flat" cmpd="sng" w="12700">
            <a:solidFill>
              <a:srgbClr val="AFC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4683538" y="2641715"/>
            <a:ext cx="155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ourier New"/>
              <a:buNone/>
            </a:pPr>
            <a:r>
              <a:rPr b="1" i="0" lang="en-US" sz="1300" u="none" cap="none" strike="noStrike">
                <a:solidFill>
                  <a:srgbClr val="FFFFFF"/>
                </a:solidFill>
                <a:latin typeface="Courier New"/>
                <a:ea typeface="Courier New"/>
                <a:cs typeface="Courier New"/>
                <a:sym typeface="Courier New"/>
              </a:rPr>
              <a:t>dd=2</a:t>
            </a:r>
            <a:endParaRPr b="0" i="0" sz="1300" u="none" cap="none" strike="noStrike">
              <a:solidFill>
                <a:schemeClr val="dk1"/>
              </a:solidFill>
              <a:latin typeface="Calibri"/>
              <a:ea typeface="Calibri"/>
              <a:cs typeface="Calibri"/>
              <a:sym typeface="Calibri"/>
            </a:endParaRPr>
          </a:p>
        </p:txBody>
      </p:sp>
      <p:cxnSp>
        <p:nvCxnSpPr>
          <p:cNvPr id="406" name="Google Shape;406;p12"/>
          <p:cNvCxnSpPr/>
          <p:nvPr/>
        </p:nvCxnSpPr>
        <p:spPr>
          <a:xfrm>
            <a:off x="2077498" y="2980043"/>
            <a:ext cx="457200" cy="0"/>
          </a:xfrm>
          <a:prstGeom prst="straightConnector1">
            <a:avLst/>
          </a:prstGeom>
          <a:noFill/>
          <a:ln cap="flat" cmpd="sng" w="25400">
            <a:solidFill>
              <a:srgbClr val="AFC0FF"/>
            </a:solidFill>
            <a:prstDash val="solid"/>
            <a:round/>
            <a:headEnd len="sm" w="sm" type="none"/>
            <a:tailEnd len="med" w="med" type="triangle"/>
          </a:ln>
        </p:spPr>
      </p:cxnSp>
      <p:cxnSp>
        <p:nvCxnSpPr>
          <p:cNvPr id="407" name="Google Shape;407;p12"/>
          <p:cNvCxnSpPr/>
          <p:nvPr/>
        </p:nvCxnSpPr>
        <p:spPr>
          <a:xfrm>
            <a:off x="4180618" y="2980043"/>
            <a:ext cx="457200" cy="0"/>
          </a:xfrm>
          <a:prstGeom prst="straightConnector1">
            <a:avLst/>
          </a:prstGeom>
          <a:noFill/>
          <a:ln cap="flat" cmpd="sng" w="25400">
            <a:solidFill>
              <a:srgbClr val="AFC0FF"/>
            </a:solidFill>
            <a:prstDash val="solid"/>
            <a:round/>
            <a:headEnd len="sm" w="sm" type="none"/>
            <a:tailEnd len="med" w="med" type="triangle"/>
          </a:ln>
        </p:spPr>
      </p:cxnSp>
      <p:cxnSp>
        <p:nvCxnSpPr>
          <p:cNvPr id="408" name="Google Shape;408;p12"/>
          <p:cNvCxnSpPr/>
          <p:nvPr/>
        </p:nvCxnSpPr>
        <p:spPr>
          <a:xfrm>
            <a:off x="1437410" y="1874515"/>
            <a:ext cx="3931800" cy="0"/>
          </a:xfrm>
          <a:prstGeom prst="straightConnector1">
            <a:avLst/>
          </a:prstGeom>
          <a:noFill/>
          <a:ln cap="flat" cmpd="sng" w="31750">
            <a:solidFill>
              <a:srgbClr val="E15554"/>
            </a:solidFill>
            <a:prstDash val="dash"/>
            <a:round/>
            <a:headEnd len="sm" w="sm" type="none"/>
            <a:tailEnd len="med" w="med" type="triangle"/>
          </a:ln>
        </p:spPr>
      </p:cxnSp>
      <p:cxnSp>
        <p:nvCxnSpPr>
          <p:cNvPr id="409" name="Google Shape;409;p12"/>
          <p:cNvCxnSpPr/>
          <p:nvPr/>
        </p:nvCxnSpPr>
        <p:spPr>
          <a:xfrm>
            <a:off x="1391698" y="1955915"/>
            <a:ext cx="0" cy="685800"/>
          </a:xfrm>
          <a:prstGeom prst="straightConnector1">
            <a:avLst/>
          </a:prstGeom>
          <a:noFill/>
          <a:ln cap="flat" cmpd="sng" w="31750">
            <a:solidFill>
              <a:srgbClr val="E15554"/>
            </a:solidFill>
            <a:prstDash val="solid"/>
            <a:round/>
            <a:headEnd len="sm" w="sm" type="none"/>
            <a:tailEnd len="sm" w="sm" type="none"/>
          </a:ln>
        </p:spPr>
      </p:cxnSp>
      <p:cxnSp>
        <p:nvCxnSpPr>
          <p:cNvPr id="410" name="Google Shape;410;p12"/>
          <p:cNvCxnSpPr/>
          <p:nvPr/>
        </p:nvCxnSpPr>
        <p:spPr>
          <a:xfrm>
            <a:off x="5323618" y="1955915"/>
            <a:ext cx="0" cy="685800"/>
          </a:xfrm>
          <a:prstGeom prst="straightConnector1">
            <a:avLst/>
          </a:prstGeom>
          <a:noFill/>
          <a:ln cap="flat" cmpd="sng" w="31750">
            <a:solidFill>
              <a:srgbClr val="E15554"/>
            </a:solidFill>
            <a:prstDash val="solid"/>
            <a:round/>
            <a:headEnd len="sm" w="sm" type="none"/>
            <a:tailEnd len="sm" w="sm" type="none"/>
          </a:ln>
        </p:spPr>
      </p:cxnSp>
      <p:sp>
        <p:nvSpPr>
          <p:cNvPr id="411" name="Google Shape;411;p12"/>
          <p:cNvSpPr/>
          <p:nvPr/>
        </p:nvSpPr>
        <p:spPr>
          <a:xfrm>
            <a:off x="706022" y="665715"/>
            <a:ext cx="4572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8A80"/>
              </a:buClr>
              <a:buSzPts val="1150"/>
              <a:buFont typeface="Calibri"/>
              <a:buNone/>
            </a:pPr>
            <a:r>
              <a:rPr b="0" i="1" lang="en-US" sz="1150" u="none" cap="none" strike="noStrike">
                <a:solidFill>
                  <a:srgbClr val="FF8A80"/>
                </a:solidFill>
                <a:latin typeface="Calibri"/>
                <a:ea typeface="Calibri"/>
                <a:cs typeface="Calibri"/>
                <a:sym typeface="Calibri"/>
              </a:rPr>
              <a:t>saut de marché : 0 → 2 directement</a:t>
            </a:r>
            <a:endParaRPr b="0" i="0" sz="1150" u="none" cap="none" strike="noStrike">
              <a:solidFill>
                <a:schemeClr val="dk1"/>
              </a:solidFill>
              <a:latin typeface="Calibri"/>
              <a:ea typeface="Calibri"/>
              <a:cs typeface="Calibri"/>
              <a:sym typeface="Calibri"/>
            </a:endParaRPr>
          </a:p>
        </p:txBody>
      </p:sp>
      <p:sp>
        <p:nvSpPr>
          <p:cNvPr id="412" name="Google Shape;412;p12"/>
          <p:cNvSpPr/>
          <p:nvPr/>
        </p:nvSpPr>
        <p:spPr>
          <a:xfrm>
            <a:off x="477415" y="3624775"/>
            <a:ext cx="5760600" cy="914400"/>
          </a:xfrm>
          <a:prstGeom prst="roundRect">
            <a:avLst>
              <a:gd fmla="val 14000" name="adj"/>
            </a:avLst>
          </a:prstGeom>
          <a:solidFill>
            <a:srgbClr val="23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706015" y="3624775"/>
            <a:ext cx="53034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BF7"/>
              </a:buClr>
              <a:buSzPts val="1200"/>
              <a:buFont typeface="Calibri"/>
              <a:buNone/>
            </a:pPr>
            <a:r>
              <a:rPr b="0" i="0" lang="en-US" sz="1200" u="none" cap="none" strike="noStrike">
                <a:solidFill>
                  <a:srgbClr val="E8EBF7"/>
                </a:solidFill>
                <a:latin typeface="Calibri"/>
                <a:ea typeface="Calibri"/>
                <a:cs typeface="Calibri"/>
                <a:sym typeface="Calibri"/>
              </a:rPr>
              <a:t>GAP DÉTECTÉ  —  le modèle suppose +1 bucket de drawdown par pas ; en réalité un saut peut passer directement de 0 à 2.</a:t>
            </a:r>
            <a:endParaRPr b="0" i="0" sz="1200" u="none" cap="none" strike="noStrike">
              <a:solidFill>
                <a:schemeClr val="dk1"/>
              </a:solidFill>
              <a:latin typeface="Calibri"/>
              <a:ea typeface="Calibri"/>
              <a:cs typeface="Calibri"/>
              <a:sym typeface="Calibri"/>
            </a:endParaRPr>
          </a:p>
        </p:txBody>
      </p:sp>
      <p:sp>
        <p:nvSpPr>
          <p:cNvPr id="414" name="Google Shape;414;p12"/>
          <p:cNvSpPr/>
          <p:nvPr/>
        </p:nvSpPr>
        <p:spPr>
          <a:xfrm>
            <a:off x="6675120" y="1984700"/>
            <a:ext cx="4937700" cy="502800"/>
          </a:xfrm>
          <a:prstGeom prst="roundRect">
            <a:avLst>
              <a:gd fmla="val 50000" name="adj"/>
            </a:avLst>
          </a:prstGeom>
          <a:solidFill>
            <a:srgbClr val="4C5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2"/>
          <p:cNvSpPr/>
          <p:nvPr/>
        </p:nvSpPr>
        <p:spPr>
          <a:xfrm>
            <a:off x="6675120" y="1984700"/>
            <a:ext cx="49377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buckets plus fins</a:t>
            </a:r>
            <a:endParaRPr b="0" i="0" sz="1250" u="none" cap="none" strike="noStrike">
              <a:solidFill>
                <a:schemeClr val="dk1"/>
              </a:solidFill>
              <a:latin typeface="Calibri"/>
              <a:ea typeface="Calibri"/>
              <a:cs typeface="Calibri"/>
              <a:sym typeface="Calibri"/>
            </a:endParaRPr>
          </a:p>
        </p:txBody>
      </p:sp>
      <p:sp>
        <p:nvSpPr>
          <p:cNvPr id="416" name="Google Shape;416;p12"/>
          <p:cNvSpPr/>
          <p:nvPr/>
        </p:nvSpPr>
        <p:spPr>
          <a:xfrm>
            <a:off x="6675120" y="2670500"/>
            <a:ext cx="4937700" cy="502800"/>
          </a:xfrm>
          <a:prstGeom prst="roundRect">
            <a:avLst>
              <a:gd fmla="val 50000" name="adj"/>
            </a:avLst>
          </a:prstGeom>
          <a:solidFill>
            <a:srgbClr val="E15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6675120" y="2670500"/>
            <a:ext cx="49377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transitions de saut</a:t>
            </a:r>
            <a:endParaRPr b="0" i="0" sz="1250" u="none" cap="none" strike="noStrike">
              <a:solidFill>
                <a:schemeClr val="dk1"/>
              </a:solidFill>
              <a:latin typeface="Calibri"/>
              <a:ea typeface="Calibri"/>
              <a:cs typeface="Calibri"/>
              <a:sym typeface="Calibri"/>
            </a:endParaRPr>
          </a:p>
        </p:txBody>
      </p:sp>
      <p:sp>
        <p:nvSpPr>
          <p:cNvPr id="418" name="Google Shape;418;p12"/>
          <p:cNvSpPr/>
          <p:nvPr/>
        </p:nvSpPr>
        <p:spPr>
          <a:xfrm>
            <a:off x="6675120" y="3356300"/>
            <a:ext cx="4937700" cy="502800"/>
          </a:xfrm>
          <a:prstGeom prst="roundRect">
            <a:avLst>
              <a:gd fmla="val 50000" name="adj"/>
            </a:avLst>
          </a:prstGeom>
          <a:solidFill>
            <a:srgbClr val="2E9E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p:nvPr/>
        </p:nvSpPr>
        <p:spPr>
          <a:xfrm>
            <a:off x="6675120" y="3356300"/>
            <a:ext cx="49377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slippage &amp; latence modélisés</a:t>
            </a:r>
            <a:endParaRPr b="0" i="0" sz="1250" u="none" cap="none" strike="noStrike">
              <a:solidFill>
                <a:schemeClr val="dk1"/>
              </a:solidFill>
              <a:latin typeface="Calibri"/>
              <a:ea typeface="Calibri"/>
              <a:cs typeface="Calibri"/>
              <a:sym typeface="Calibri"/>
            </a:endParaRPr>
          </a:p>
        </p:txBody>
      </p:sp>
      <p:cxnSp>
        <p:nvCxnSpPr>
          <p:cNvPr id="420" name="Google Shape;420;p12"/>
          <p:cNvCxnSpPr/>
          <p:nvPr/>
        </p:nvCxnSpPr>
        <p:spPr>
          <a:xfrm>
            <a:off x="548640" y="5074920"/>
            <a:ext cx="11064240" cy="0"/>
          </a:xfrm>
          <a:prstGeom prst="straightConnector1">
            <a:avLst/>
          </a:prstGeom>
          <a:noFill/>
          <a:ln cap="flat" cmpd="sng" w="12700">
            <a:solidFill>
              <a:srgbClr val="3A4470"/>
            </a:solidFill>
            <a:prstDash val="solid"/>
            <a:round/>
            <a:headEnd len="sm" w="sm" type="none"/>
            <a:tailEnd len="sm" w="sm" type="none"/>
          </a:ln>
        </p:spPr>
      </p:cxnSp>
      <p:sp>
        <p:nvSpPr>
          <p:cNvPr id="421" name="Google Shape;421;p12"/>
          <p:cNvSpPr/>
          <p:nvPr/>
        </p:nvSpPr>
        <p:spPr>
          <a:xfrm>
            <a:off x="548640" y="5303520"/>
            <a:ext cx="1106424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ambria"/>
              <a:buNone/>
            </a:pPr>
            <a:r>
              <a:rPr b="1" i="1" lang="en-US" sz="1800" u="none" cap="none" strike="noStrike">
                <a:solidFill>
                  <a:srgbClr val="FFFFFF"/>
                </a:solidFill>
                <a:latin typeface="Cambria"/>
                <a:ea typeface="Cambria"/>
                <a:cs typeface="Cambria"/>
                <a:sym typeface="Cambria"/>
              </a:rPr>
              <a:t>La propriété critique (pas de margin call) tient malgré le gap — mais l'hypothèse de granularité, elle, est mise en défaut.</a:t>
            </a:r>
            <a:endParaRPr b="0" i="0" sz="1800" u="none" cap="none" strike="noStrike">
              <a:solidFill>
                <a:schemeClr val="dk1"/>
              </a:solidFill>
              <a:latin typeface="Calibri"/>
              <a:ea typeface="Calibri"/>
              <a:cs typeface="Calibri"/>
              <a:sym typeface="Calibri"/>
            </a:endParaRPr>
          </a:p>
        </p:txBody>
      </p:sp>
      <p:sp>
        <p:nvSpPr>
          <p:cNvPr id="422" name="Google Shape;422;p12"/>
          <p:cNvSpPr/>
          <p:nvPr/>
        </p:nvSpPr>
        <p:spPr>
          <a:xfrm>
            <a:off x="10908792" y="64008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3C0"/>
              </a:buClr>
              <a:buSzPts val="900"/>
              <a:buFont typeface="Calibri"/>
              <a:buNone/>
            </a:pPr>
            <a:r>
              <a:rPr b="0" i="0" lang="en-US" sz="900" u="none" cap="none" strike="noStrike">
                <a:solidFill>
                  <a:srgbClr val="8A93C0"/>
                </a:solidFill>
                <a:latin typeface="Calibri"/>
                <a:ea typeface="Calibri"/>
                <a:cs typeface="Calibri"/>
                <a:sym typeface="Calibri"/>
              </a:rPr>
              <a:t>10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